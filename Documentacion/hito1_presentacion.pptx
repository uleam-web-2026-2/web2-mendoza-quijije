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aba8ba56f5b546e3" Type="http://schemas.openxmlformats.org/officeDocument/2006/relationships/extended-properties" Target="docProps/app.xml"/><Relationship Id="Rd861bb46ce55430d" Type="http://schemas.openxmlformats.org/officeDocument/2006/relationships/officeDocument" Target="ppt/presentation.xml"/><Relationship Id="Rf3735079b7254f66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954d966b7148bd"/>
  </p:sldMasterIdLst>
  <p:notesMasterIdLst>
    <p:notesMasterId xmlns:r="http://schemas.openxmlformats.org/officeDocument/2006/relationships" r:id="Rd6c4e7303f014166"/>
  </p:notesMasterIdLst>
  <p:sldIdLst>
    <p:sldId xmlns:r="http://schemas.openxmlformats.org/officeDocument/2006/relationships" id="256" r:id="R913ba7bd5f9b4177"/>
    <p:sldId xmlns:r="http://schemas.openxmlformats.org/officeDocument/2006/relationships" id="257" r:id="Rba91006ee78d4472"/>
    <p:sldId xmlns:r="http://schemas.openxmlformats.org/officeDocument/2006/relationships" id="258" r:id="R11090079d3cd46c3"/>
    <p:sldId xmlns:r="http://schemas.openxmlformats.org/officeDocument/2006/relationships" id="259" r:id="R2df0c1e4c4924cb6"/>
    <p:sldId xmlns:r="http://schemas.openxmlformats.org/officeDocument/2006/relationships" id="260" r:id="Raa50143a80de4249"/>
    <p:sldId xmlns:ns0="http://schemas.openxmlformats.org/officeDocument/2006/relationships" id="261" ns0:id="rId12"/>
    <p:sldId xmlns:ns0="http://schemas.openxmlformats.org/officeDocument/2006/relationships" id="262" ns0:id="rId13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11090079d3cd46c3" Type="http://schemas.openxmlformats.org/officeDocument/2006/relationships/slide" Target="slides/slide3.xml"/><Relationship Id="R2df0c1e4c4924cb6" Type="http://schemas.openxmlformats.org/officeDocument/2006/relationships/slide" Target="slides/slide4.xml"/><Relationship Id="R461b8a9be659415c" Type="http://schemas.openxmlformats.org/officeDocument/2006/relationships/tableStyles" Target="tableStyles.xml"/><Relationship Id="R80f75ff957644e74" Type="http://schemas.openxmlformats.org/officeDocument/2006/relationships/theme" Target="theme/theme1.xml"/><Relationship Id="R913ba7bd5f9b4177" Type="http://schemas.openxmlformats.org/officeDocument/2006/relationships/slide" Target="slides/slide1.xml"/><Relationship Id="Raa50143a80de4249" Type="http://schemas.openxmlformats.org/officeDocument/2006/relationships/slide" Target="slides/slide5.xml"/><Relationship Id="Rba91006ee78d4472" Type="http://schemas.openxmlformats.org/officeDocument/2006/relationships/slide" Target="slides/slide2.xml"/><Relationship Id="Rd3d75bb7dce24c59" Type="http://schemas.openxmlformats.org/officeDocument/2006/relationships/presProps" Target="presProps.xml"/><Relationship Id="Rd6c4e7303f014166" Type="http://schemas.openxmlformats.org/officeDocument/2006/relationships/notesMaster" Target="notesMasters/notesMaster1.xml"/><Relationship Id="Rf08576463cba4ce8" Type="http://schemas.openxmlformats.org/officeDocument/2006/relationships/viewProps" Target="viewProps.xml"/><Relationship Id="Rf9954d966b7148bd" Type="http://schemas.openxmlformats.org/officeDocument/2006/relationships/slideMaster" Target="slideMasters/slideMaster1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883dc155cd9c4e7c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c83aaf4a34d842be" Type="http://schemas.openxmlformats.org/officeDocument/2006/relationships/slide" Target="../slides/slide1.xml"/><Relationship Id="Rda36508f94ba4527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84a71b5e87cd4afa" Type="http://schemas.openxmlformats.org/officeDocument/2006/relationships/notesMaster" Target="../notesMasters/notesMaster1.xml"/><Relationship Id="Rfd1e0aa314a44f4c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055e6739cf6b478e" Type="http://schemas.openxmlformats.org/officeDocument/2006/relationships/notesMaster" Target="../notesMasters/notesMaster1.xml"/><Relationship Id="Rd93e4e09d0974381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1bdb6bffeb904d1f" Type="http://schemas.openxmlformats.org/officeDocument/2006/relationships/notesMaster" Target="../notesMasters/notesMaster1.xml"/><Relationship Id="R2a05364040304d23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4fe97ada5c294990" Type="http://schemas.openxmlformats.org/officeDocument/2006/relationships/notesMaster" Target="../notesMasters/notesMaster1.xml"/><Relationship Id="R7a3f96b2cb1c48ac" Type="http://schemas.openxmlformats.org/officeDocument/2006/relationships/slide" Target="../slides/slide5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Frase fija (dentro de los 45 s): «Nuestro negocio es EventoSports: vende cupos en partidos y torneos locales a jugadores y organizadores y cobra una comisión por evento pagado y un plan mensual al organizador. Se basa en EventBookings de Starter Story. Un caso parecido que se estancó fue Sportaneous, y creemos que fue porque el partido era gratis y no había a quién cobrar.»</a:t>
            </a:r>
          </a:p>
          <a:p xmlns:a="http://schemas.openxmlformats.org/drawingml/2006/main"/>
          <a:p xmlns:a="http://schemas.openxmlformats.org/drawingml/2006/main">
            <a:r>
              <a:t>Pregunta publicada: ¿De qué depende que su negocio gane dinero? Si eso falla, ¿qué pasa?</a:t>
            </a:r>
          </a:p>
          <a:p xmlns:a="http://schemas.openxmlformats.org/drawingml/2006/main">
            <a:r>
              <a:t>Cifra: la página de Starter Story muestra US$52.183 de ingreso al mes (ene. 2023) y su título dice US$120K al año; las declara el fundador y nadie las audita.</a:t>
            </a:r>
          </a:p>
          <a:p xmlns:a="http://schemas.openxmlformats.org/drawingml/2006/main">
            <a:r>
              <a:t>Respuesta de apoyo: depende de que el organizador repita cada semana y publique eventos de pago con cupos llenos. Si los organizadores no vuelven o todo el mundo organiza gratis, no hay a quién cobrar y quedamos como Sportaneous: usuarios sin ingresos.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Frase fija (dentro de los 45 s): «Nuestras restricciones son el pago por transferencia con comprobante, los organizadores sin RUC y las canchas sin dirección estándar. La primera cambió nuestro modelo: agregamos el estado pago por verificar a la inscripción y la entidad Pago.»</a:t>
            </a:r>
          </a:p>
          <a:p xmlns:a="http://schemas.openxmlformats.org/drawingml/2006/main"/>
          <a:p xmlns:a="http://schemas.openxmlformats.org/drawingml/2006/main">
            <a:r>
              <a:t>Pregunta publicada: Por la restricción [número], ¿qué cambió en su modelo y por qué?</a:t>
            </a:r>
          </a:p>
          <a:p xmlns:a="http://schemas.openxmlformats.org/drawingml/2006/main">
            <a:r>
              <a:t>Respuesta de apoyo (1): porque la gente transfiere y manda foto, el organizador tiene que comprobar en su banco antes de dar el cupo; por eso hay un estado intermedio y una entidad Pago con banco y referencia. (2): el RUC es opcional porque no todo organizador lo tiene; la comisión se factura con RUC o, si no lo tiene, con cédula. (3): la sede tiene referencia de texto obligatoria y coordenadas opcionales.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Frase fija (dentro de los 45 s): «Nuestro modelo tiene cinco entidades: Usuario, Sede, Evento, Inscripción y Pago. Un Evento tiene muchas Inscripciones. El diagrama completo y los structs están en el enlace.»</a:t>
            </a:r>
          </a:p>
          <a:p xmlns:a="http://schemas.openxmlformats.org/drawingml/2006/main"/>
          <a:p xmlns:a="http://schemas.openxmlformats.org/drawingml/2006/main">
            <a:r>
              <a:t>Pregunta publicada: ¿Por qué [X] es una entidad y no un atributo de [Y]? ¿Y por qué ese tipo en Go?</a:t>
            </a:r>
          </a:p>
          <a:p xmlns:a="http://schemas.openxmlformats.org/drawingml/2006/main">
            <a:r>
              <a:t>Respuesta de apoyo: Pago es entidad y no dos campos de Inscripción porque un comprobante puede rechazarse y el jugador manda otro: una inscripción tiene varios pagos y hay que guardar el historial. Tipos en Go: Inicio es time.Time para comparar fechas (¿ya empezó?, ¿faltan 24 h?); Latitud y RUC son punteros porque son opcionales y 0 o vacío no significa 'sin dato'; Precio es float64 mapeado a numeric(8,2).</a:t>
            </a:r>
          </a:p>
          <a:p xmlns:a="http://schemas.openxmlformats.org/drawingml/2006/main">
            <a:r>
              <a:t>Nota: en el enlace del diagrama, el diagrama va dentro de la ficha (Mermaid), sección «Diagrama del modelo completo».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Frase fija (dentro de los 45 s): «Inscripción empieza en reservada, pasa a pago por verificar cuando el jugador manda el banco y la referencia de su transferencia, y termina en confirmada. No se permite pasar de cancelada a confirmada, porque el cupo pudo ser tomado por otro jugador.»</a:t>
            </a:r>
          </a:p>
          <a:p xmlns:a="http://schemas.openxmlformats.org/drawingml/2006/main"/>
          <a:p xmlns:a="http://schemas.openxmlformats.org/drawingml/2006/main">
            <a:r>
              <a:t>Pregunta publicada: ¿Qué pasaría en su negocio si alguien hiciera la transición prohibida? ¿Dónde se valida en el código?</a:t>
            </a:r>
          </a:p>
          <a:p xmlns:a="http://schemas.openxmlformats.org/drawingml/2006/main">
            <a:r>
              <a:t>Respuesta de apoyo: reviviríamos una reserva cuyo cupo ya se liberó y podríamos vender más cupos de los que hay (sobrecupo) o saltarnos la verificación del pago. Se valida en validaciones.go, con una tabla de transiciones permitidas que consulta PATCH /inscripciones/{id}/estado antes de tocar la base de datos; si no está permitida responde 409.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Frase fija (dentro de los 45 s): «Tenemos seis endpoints para cuatro pantallas. El rol jugador entra por Explorar eventos y consume GET /eventos. Esta es la respuesta real de GET /eventos, con código 200.»</a:t>
            </a:r>
          </a:p>
          <a:p xmlns:a="http://schemas.openxmlformats.org/drawingml/2006/main">
            <a:r>
              <a:t>(La captura de la diapositiva tiene que ser de ese mismo endpoint, o cambien la frase.)</a:t>
            </a:r>
          </a:p>
          <a:p xmlns:a="http://schemas.openxmlformats.org/drawingml/2006/main"/>
          <a:p xmlns:a="http://schemas.openxmlformats.org/drawingml/2006/main">
            <a:r>
              <a:t>Pregunta publicada: La pantalla [nombre] necesita mostrar [dato]: ¿qué endpoint se lo da y qué devuelve exactamente?</a:t>
            </a:r>
          </a:p>
          <a:p xmlns:a="http://schemas.openxmlformats.org/drawingml/2006/main">
            <a:r>
              <a:t>Respuesta de apoyo: Explorar eventos → GET /eventos, devuelve la lista con deporte, nivel, inicio, sede, precio y cupos libres. Detalle del evento → GET /eventos/{id}, devuelve el evento con su sede, cupos libres y la inscripción del jugador. Panel del organizador → GET /eventos/{id}/inscripciones, con jugador, estado y último pago.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7e49bd2c0b564648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6ed371d5076b46fc" Type="http://schemas.openxmlformats.org/officeDocument/2006/relationships/theme" Target="theme/theme2.xml"/><Relationship Id="Rf3a67579de1f42b0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a67579de1f42b0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4f1ddfa018054c0b" Type="http://schemas.openxmlformats.org/officeDocument/2006/relationships/slideLayout" Target="../slideLayouts/slideLayout1.xml"/><Relationship Id="R5934bb0df4d249a4" Type="http://schemas.openxmlformats.org/officeDocument/2006/relationships/hyperlink" Target="https://github.com/uleam-web-2026-2/Web2-MENDOZA-QUIJIJE/blob/main/Documentacion/hito1_ficha_del_negocio.md#1-negocio-de-referencia" TargetMode="External"/><Relationship Id="R629d79158b9e48f6" Type="http://schemas.openxmlformats.org/officeDocument/2006/relationships/hyperlink" Target="https://www.starterstory.com/stories/eventbookings" TargetMode="External"/><Relationship Id="Rc85aac2ba5304a3f" Type="http://schemas.openxmlformats.org/officeDocument/2006/relationships/hyperlink" Target="https://www.thedp.com/article/2011/09/mobile_app_sportaneous_finds_pickup_games" TargetMode="External"/><Relationship Id="Re2c5886117c34eb2" Type="http://schemas.openxmlformats.org/officeDocument/2006/relationships/notesSlide" Target="../notesSlides/notesSlide1.xml"/><Relationship Id="rId6" Type="http://schemas.openxmlformats.org/officeDocument/2006/relationships/hyperlink" Target="https://github.com/uleam-web-2026-2/Web2-MENDOZA-QUIJIJE/blob/main/Documentacion/hito1_ficha_del_negocio.md#2-caso-de-contraste" TargetMode="External"/></Relationships>
</file>

<file path=ppt/slides/_rels/slide2.xml.rels><?xml version='1.0' encoding='UTF-8' standalone='yes'?>
<Relationships xmlns="http://schemas.openxmlformats.org/package/2006/relationships"><Relationship Id="Ra1331b3e41274d07" Type="http://schemas.openxmlformats.org/officeDocument/2006/relationships/slideLayout" Target="../slideLayouts/slideLayout1.xml"/><Relationship Id="Rb96fd9c4637f4557" Type="http://schemas.openxmlformats.org/officeDocument/2006/relationships/notesSlide" Target="../notesSlides/notesSlide2.xml"/><Relationship Id="Rc7fbdf4074fd41af" Type="http://schemas.openxmlformats.org/officeDocument/2006/relationships/hyperlink" Target="https://github.com/uleam-web-2026-2/Web2-MENDOZA-QUIJIJE/blob/main/Documentacion/hito1_ficha_del_negocio.md#3-adaptaci&#243;n-al-ecuador" TargetMode="External"/></Relationships>
</file>

<file path=ppt/slides/_rels/slide3.xml.rels><?xml version='1.0' encoding='UTF-8' standalone='yes'?>
<Relationships xmlns="http://schemas.openxmlformats.org/package/2006/relationships"><Relationship Id="R19eda1ce86854c42" Type="http://schemas.openxmlformats.org/officeDocument/2006/relationships/hyperlink" Target="https://github.com/uleam-web-2026-2/Web2-MENDOZA-QUIJIJE/blob/main/Documentacion/hito1_ficha_del_negocio.md#diagrama-del-modelo-completo" TargetMode="External"/><Relationship Id="R1b906f9cd98a42a8" Type="http://schemas.openxmlformats.org/officeDocument/2006/relationships/slideLayout" Target="../slideLayouts/slideLayout1.xml"/><Relationship Id="R2c2e0c9be2974c45" Type="http://schemas.openxmlformats.org/officeDocument/2006/relationships/hyperlink" Target="https://github.com/uleam-web-2026-2/Web2-MENDOZA-QUIJIJE/blob/main/Documentacion/hito1_ficha_del_negocio.md#4-modelo-de-datos" TargetMode="External"/><Relationship Id="R57fbbb6a8e3c459f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6a7650e6c8794683" Type="http://schemas.openxmlformats.org/officeDocument/2006/relationships/notesSlide" Target="../notesSlides/notesSlide4.xml"/><Relationship Id="R91ce902063f6497b" Type="http://schemas.openxmlformats.org/officeDocument/2006/relationships/slideLayout" Target="../slideLayouts/slideLayout1.xml"/><Relationship Id="Ra1c13a8897ba47bb" Type="http://schemas.openxmlformats.org/officeDocument/2006/relationships/hyperlink" Target="https://github.com/uleam-web-2026-2/Web2-MENDOZA-QUIJIJE/blob/main/Documentacion/hito1_ficha_del_negocio.md#diagrama-de-estados" TargetMode="External"/><Relationship Id="Rf5772f1d7e334074" Type="http://schemas.openxmlformats.org/officeDocument/2006/relationships/hyperlink" Target="https://github.com/uleam-web-2026-2/Web2-MENDOZA-QUIJIJE/blob/main/Documentacion/hito1_ficha_del_negocio.md#5-m&#225;quina-de-estados" TargetMode="External"/></Relationships>
</file>

<file path=ppt/slides/_rels/slide5.xml.rels><?xml version='1.0' encoding='UTF-8' standalone='yes'?>
<Relationships xmlns="http://schemas.openxmlformats.org/package/2006/relationships"><Relationship Id="R00304d4a7d2e4953" Type="http://schemas.openxmlformats.org/officeDocument/2006/relationships/slideLayout" Target="../slideLayouts/slideLayout1.xml"/><Relationship Id="R84ececa7ea22497a" Type="http://schemas.openxmlformats.org/officeDocument/2006/relationships/hyperlink" Target="https://github.com/uleam-web-2026-2/Web2-MENDOZA-QUIJIJE/blob/main/Documentacion/hito1_ficha_del_negocio.md#7-mapa-de-endpoints-por-rol" TargetMode="External"/><Relationship Id="R9e4129e6a04a4191" Type="http://schemas.openxmlformats.org/officeDocument/2006/relationships/image" Target="../media/image.png"/><Relationship Id="Rb76bff377b5945ee" Type="http://schemas.openxmlformats.org/officeDocument/2006/relationships/notesSlide" Target="../notesSlides/notesSlide5.xml"/><Relationship Id="Rf342f223d7f94f96" Type="http://schemas.openxmlformats.org/officeDocument/2006/relationships/hyperlink" Target="https://github.com/uleam-web-2026-2/Web2-MENDOZA-QUIJIJE/blob/main/Documentacion/hito1_addendum.md" TargetMode="External"/><Relationship Id="rId6" Type="http://schemas.openxmlformats.org/officeDocument/2006/relationships/image" Target="../media/image1.png"/><Relationship Id="rId7" Type="http://schemas.openxmlformats.org/officeDocument/2006/relationships/hyperlink" Target="https://github.com/uleam-web-2026-2/Web2-MENDOZA-QUIJIJE/blob/main/Documentacion/imagenes/hito1_respuesta_api.png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8C379F5-C029-4570-A669-7A0AE9D3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92608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3D6D"/>
          </a:solidFill>
          <a:ln xmlns:a="http://schemas.openxmlformats.org/drawingml/2006/main" w="12700">
            <a:solidFill>
              <a:srgbClr val="1A3D6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C4D0948-7C81-4C3E-B340-207759C1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92608"/>
            <a:ext cx="47548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2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3ADC495-C7C7-46BB-807A-A5ED5D0F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37744"/>
            <a:ext cx="49377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A3D6D"/>
                </a:solidFill>
                <a:latin typeface="Calibri"/>
                <a:ea typeface="Calibri"/>
                <a:cs typeface="Calibri"/>
              </a:rPr>
              <a:t>El negocio</a:t>
            </a:r>
            <a:endParaRPr sz="26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5930898-8F89-4E1D-B298-2FAE681E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658368"/>
            <a:ext cx="49377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B6B80"/>
                </a:solidFill>
                <a:latin typeface="Calibri"/>
                <a:ea typeface="Calibri"/>
                <a:cs typeface="Calibri"/>
              </a:rPr>
              <a:t>Ficha, secciones 1 y 2</a:t>
            </a:r>
            <a:endParaRPr sz="11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CDFADE5-D5FB-4576-9C78-0F72D5F1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274320"/>
            <a:ext cx="3108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5B6B80"/>
                </a:solidFill>
                <a:latin typeface="Calibri"/>
                <a:ea typeface="Calibri"/>
                <a:cs typeface="Calibri"/>
              </a:rPr>
              <a:t>Grupo E · Mendoza · Quijije</a:t>
            </a:r>
            <a:endParaRPr sz="11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7F9760A3-C948-4428-A1FE-144697D5C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097280"/>
            <a:ext cx="2606040" cy="3337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C"/>
          </a:solidFill>
          <a:ln xmlns:a="http://schemas.openxmlformats.org/drawingml/2006/main" w="12700">
            <a:solidFill>
              <a:srgbClr val="E8C77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6FB58F7-5FF9-4728-B3E2-0A6E62A3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216152"/>
            <a:ext cx="2286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A3D6D"/>
                </a:solidFill>
                <a:latin typeface="Calibri"/>
                <a:ea typeface="Calibri"/>
                <a:cs typeface="Calibri"/>
              </a:rPr>
              <a:t>Cumplimiento</a:t>
            </a:r>
            <a:endParaRPr sz="1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B870D6D-CD35-479B-9E8B-DA385B48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572768"/>
            <a:ext cx="228600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50">
                <a:solidFill>
                  <a:srgbClr val="1D2433"/>
                </a:solidFill>
                <a:latin typeface="Calibri"/>
                <a:ea typeface="Calibri"/>
                <a:cs typeface="Calibri"/>
              </a:rPr>
              <a:t>☑  Enlace al caso de Starter Story</a:t>
            </a:r>
            <a:endParaRPr sz="1150"/>
          </a:p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50">
                <a:solidFill>
                  <a:srgbClr val="1D2433"/>
                </a:solidFill>
                <a:latin typeface="Calibri"/>
                <a:ea typeface="Calibri"/>
                <a:cs typeface="Calibri"/>
              </a:rPr>
              <a:t>☑  Qué vende, a quién y cómo cobra</a:t>
            </a:r>
            <a:endParaRPr sz="1150"/>
          </a:p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50">
                <a:solidFill>
                  <a:srgbClr val="1D2433"/>
                </a:solidFill>
                <a:latin typeface="Calibri"/>
                <a:ea typeface="Calibri"/>
                <a:cs typeface="Calibri"/>
              </a:rPr>
              <a:t>☑  Cifra que declara el fundador</a:t>
            </a:r>
            <a:endParaRPr sz="1150"/>
          </a:p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50">
                <a:solidFill>
                  <a:srgbClr val="1D2433"/>
                </a:solidFill>
                <a:latin typeface="Calibri"/>
                <a:ea typeface="Calibri"/>
                <a:cs typeface="Calibri"/>
              </a:rPr>
              <a:t>☑  Caso de contraste con enlace</a:t>
            </a:r>
            <a:endParaRPr sz="1150"/>
          </a:p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50">
                <a:solidFill>
                  <a:srgbClr val="1D2433"/>
                </a:solidFill>
                <a:latin typeface="Calibri"/>
                <a:ea typeface="Calibri"/>
                <a:cs typeface="Calibri"/>
              </a:rPr>
              <a:t>☑  Hipótesis de fondo: modelo, costos o mercado</a:t>
            </a:r>
            <a:endParaRPr sz="1150"/>
          </a:p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50">
                <a:solidFill>
                  <a:srgbClr val="1D2433"/>
                </a:solidFill>
                <a:latin typeface="Calibri"/>
                <a:ea typeface="Calibri"/>
                <a:cs typeface="Calibri"/>
              </a:rPr>
              <a:t>☑  Enlace a las secciones 1 y 2 de la ficha</a:t>
            </a:r>
            <a:endParaRPr sz="11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479538F9-F079-48BE-9A41-61220F39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572000"/>
            <a:ext cx="84124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C7D3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1556632-59A4-4DDD-AB84-CBDB8782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645152"/>
            <a:ext cx="8412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A3D6D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5934bb0df4d249a4"/>
              </a:rPr>
              <a:t>Ficha · sección 1</a:t>
            </a:r>
            <a:r>
              <a:rPr sz="1000" b="1">
                <a:solidFill>
                  <a:srgbClr val="1A3D6D"/>
                </a:solidFill>
                <a:latin typeface="Calibri"/>
                <a:ea typeface="Calibri"/>
                <a:cs typeface="Calibri"/>
                <a:hlinkClick xmlns:ns0="http://schemas.openxmlformats.org/officeDocument/2006/relationships" ns0:id="rId6"/>
              </a:rPr>
              <a:t>   ·   sección 2</a:t>
            </a:r>
            <a:endParaRPr sz="10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9C9C1BEA-F4BB-4438-A8B8-C3C71743C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097280"/>
            <a:ext cx="5577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D2433"/>
                </a:solidFill>
                <a:latin typeface="Calibri"/>
                <a:ea typeface="Calibri"/>
                <a:cs typeface="Calibri"/>
              </a:rPr>
              <a:t>EventoSports: cupos en partidos y torneos locales para jugadores y organizadores</a:t>
            </a:r>
            <a:endParaRPr sz="15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23AF27FA-9554-4906-AC93-172974DC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572768"/>
            <a:ext cx="557784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 w="12700">
            <a:solidFill>
              <a:srgbClr val="E8EEF6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7C143BE5-CC78-4274-9F58-F337D981B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682496"/>
            <a:ext cx="524865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A3D6D"/>
                </a:solidFill>
                <a:latin typeface="Calibri"/>
                <a:ea typeface="Calibri"/>
                <a:cs typeface="Calibri"/>
              </a:rPr>
              <a:t>Negocio de referencia (Starter Story)</a:t>
            </a:r>
            <a:endParaRPr sz="14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BEFFF514-4BA5-4DD4-BD6E-8BE28CCE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011680"/>
            <a:ext cx="5248656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250">
                <a:solidFill>
                  <a:srgbClr val="1D2433"/>
                </a:solidFill>
                <a:latin typeface="Calibri"/>
                <a:ea typeface="Calibri"/>
                <a:cs typeface="Calibri"/>
              </a:rPr>
              <a:t>EventBookings: organizadores publican eventos y venden entradas  ·  Cobra: suscripción al organizador</a:t>
            </a:r>
            <a:endParaRPr sz="125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250">
                <a:solidFill>
                  <a:srgbClr val="1D2433"/>
                </a:solidFill>
                <a:latin typeface="Calibri"/>
                <a:ea typeface="Calibri"/>
                <a:cs typeface="Calibri"/>
              </a:rPr>
              <a:t>Declara el fundador: US$52.183 al mes (ene. 2023); título: US$120K al año</a:t>
            </a:r>
            <a:endParaRPr sz="125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250">
                <a:solidFill>
                  <a:srgbClr val="1D2433"/>
                </a:solidFill>
                <a:latin typeface="Calibri"/>
                <a:ea typeface="Calibri"/>
                <a:cs typeface="Calibri"/>
              </a:rPr>
              <a:t>Fuente: </a:t>
            </a:r>
            <a:r>
              <a:rPr sz="1250" u="sng">
                <a:solidFill>
                  <a:srgbClr val="1D2433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629d79158b9e48f6"/>
              </a:rPr>
              <a:t>starterstory.com/stories/eventbookings</a:t>
            </a:r>
            <a:endParaRPr sz="125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412FB64B-7537-4226-BB1B-B33F5067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063240"/>
            <a:ext cx="557784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 w="12700">
            <a:solidFill>
              <a:srgbClr val="E8EEF6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6D45EB5-4C7B-48F7-80B2-29ADDD1E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172968"/>
            <a:ext cx="524865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A3D6D"/>
                </a:solidFill>
                <a:latin typeface="Calibri"/>
                <a:ea typeface="Calibri"/>
                <a:cs typeface="Calibri"/>
              </a:rPr>
              <a:t>Caso de contraste</a:t>
            </a:r>
            <a:endParaRPr sz="14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A7C93514-70DC-49C3-9D2C-8077AF06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502152"/>
            <a:ext cx="5248656" cy="8412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250">
                <a:solidFill>
                  <a:srgbClr val="1D2433"/>
                </a:solidFill>
                <a:latin typeface="Calibri"/>
                <a:ea typeface="Calibri"/>
                <a:cs typeface="Calibri"/>
              </a:rPr>
              <a:t>Sportaneous (Nueva York, 2010): app de partidos improvisados; en 2011 seguía sin ingresos y se reorientó al fitness  ·  Fuente: </a:t>
            </a:r>
            <a:r>
              <a:rPr sz="1250" u="sng">
                <a:solidFill>
                  <a:srgbClr val="1D2433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c85aac2ba5304a3f"/>
              </a:rPr>
              <a:t>thedp.com (2011)</a:t>
            </a:r>
            <a:endParaRPr sz="125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250">
                <a:solidFill>
                  <a:srgbClr val="1D2433"/>
                </a:solidFill>
                <a:latin typeface="Calibri"/>
                <a:ea typeface="Calibri"/>
                <a:cs typeface="Calibri"/>
              </a:rPr>
              <a:t>Hipótesis: el partido era gratis y lo armaban los jugadores, sin cliente que pagara; EventBookings cobra al organizador.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6979873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1A9E542-5882-4552-9A00-B42F1F500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92608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3D6D"/>
          </a:solidFill>
          <a:ln xmlns:a="http://schemas.openxmlformats.org/drawingml/2006/main" w="12700">
            <a:solidFill>
              <a:srgbClr val="1A3D6D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8B0B4E0-028E-4915-8419-1428B85A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92608"/>
            <a:ext cx="47548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2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62DFBB6-1F1D-4164-904F-18007A715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37744"/>
            <a:ext cx="49377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A3D6D"/>
                </a:solidFill>
                <a:latin typeface="Calibri"/>
                <a:ea typeface="Calibri"/>
                <a:cs typeface="Calibri"/>
              </a:rPr>
              <a:t>Adaptación al Ecuador</a:t>
            </a:r>
            <a:endParaRPr sz="26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1E7B8B4-418A-4ABF-8A5C-ED3AC0EA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658368"/>
            <a:ext cx="49377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B6B80"/>
                </a:solidFill>
                <a:latin typeface="Calibri"/>
                <a:ea typeface="Calibri"/>
                <a:cs typeface="Calibri"/>
              </a:rPr>
              <a:t>Ficha, sección 3</a:t>
            </a:r>
            <a:endParaRPr sz="11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0BB08B9-1572-4778-B245-983AD401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274320"/>
            <a:ext cx="3108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5B6B80"/>
                </a:solidFill>
                <a:latin typeface="Calibri"/>
                <a:ea typeface="Calibri"/>
                <a:cs typeface="Calibri"/>
              </a:rPr>
              <a:t>Grupo E · Mendoza · Quijije</a:t>
            </a:r>
            <a:endParaRPr sz="11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64A4838-0C5B-4DE3-939A-78AEE82E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097280"/>
            <a:ext cx="2606040" cy="3337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C"/>
          </a:solidFill>
          <a:ln xmlns:a="http://schemas.openxmlformats.org/drawingml/2006/main" w="12700">
            <a:solidFill>
              <a:srgbClr val="E8C77A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00CC137-4773-4B90-8F8E-22727F243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216152"/>
            <a:ext cx="2286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A3D6D"/>
                </a:solidFill>
                <a:latin typeface="Calibri"/>
                <a:ea typeface="Calibri"/>
                <a:cs typeface="Calibri"/>
              </a:rPr>
              <a:t>Cumplimiento</a:t>
            </a:r>
            <a:endParaRPr sz="1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13C41C1-AE9A-4A8B-BFFA-2B5F11FE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572768"/>
            <a:ext cx="228600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50">
                <a:solidFill>
                  <a:srgbClr val="1D2433"/>
                </a:solidFill>
                <a:latin typeface="Calibri"/>
                <a:ea typeface="Calibri"/>
                <a:cs typeface="Calibri"/>
              </a:rPr>
              <a:t>☑  Tres restricciones locales concretas</a:t>
            </a:r>
            <a:endParaRPr sz="1150"/>
          </a:p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50">
                <a:solidFill>
                  <a:srgbClr val="1D2433"/>
                </a:solidFill>
                <a:latin typeface="Calibri"/>
                <a:ea typeface="Calibri"/>
                <a:cs typeface="Calibri"/>
              </a:rPr>
              <a:t>☑  Cada una con su efecto en el negocio</a:t>
            </a:r>
            <a:endParaRPr sz="1150"/>
          </a:p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50">
                <a:solidFill>
                  <a:srgbClr val="1D2433"/>
                </a:solidFill>
                <a:latin typeface="Calibri"/>
                <a:ea typeface="Calibri"/>
                <a:cs typeface="Calibri"/>
              </a:rPr>
              <a:t>☑  Una que cambió el modelo, y qué cambió</a:t>
            </a:r>
            <a:endParaRPr sz="1150"/>
          </a:p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50">
                <a:solidFill>
                  <a:srgbClr val="1D2433"/>
                </a:solidFill>
                <a:latin typeface="Calibri"/>
                <a:ea typeface="Calibri"/>
                <a:cs typeface="Calibri"/>
              </a:rPr>
              <a:t>☑  Enlace a la sección 3 de la ficha</a:t>
            </a:r>
            <a:endParaRPr sz="11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5EBF4DFF-513A-4C50-BD69-A10E1481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572000"/>
            <a:ext cx="84124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C7D3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73E58AC-DCD1-4417-B403-9D9B98C8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645152"/>
            <a:ext cx="8412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A3D6D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c7fbdf4074fd41af"/>
              </a:rPr>
              <a:t>Ficha · sección 3</a:t>
            </a:r>
            <a:endParaRPr sz="10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1557B38A-DC3C-49A1-BF26-1D2E6CD7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097280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A3D6D"/>
                </a:solidFill>
                <a:latin typeface="Calibri"/>
                <a:ea typeface="Calibri"/>
                <a:cs typeface="Calibri"/>
              </a:rPr>
              <a:t>Restricción</a:t>
            </a:r>
            <a:endParaRPr sz="12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9661BC8D-01E7-4763-91D6-A5C222CEB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1097280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A3D6D"/>
                </a:solidFill>
                <a:latin typeface="Calibri"/>
                <a:ea typeface="Calibri"/>
                <a:cs typeface="Calibri"/>
              </a:rPr>
              <a:t>Efecto en el negocio</a:t>
            </a:r>
            <a:endParaRPr sz="12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1B228204-5131-4185-BA9C-B2F06E6E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490472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3D6D"/>
          </a:solidFill>
          <a:ln xmlns:a="http://schemas.openxmlformats.org/drawingml/2006/main" w="12700">
            <a:solidFill>
              <a:srgbClr val="1A3D6D"/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ED837B6-31F8-4F5E-9E7A-CFCDD1B2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490472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7664874B-F1ED-4628-8CFD-50A8F96D5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417320"/>
            <a:ext cx="507492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 w="12700">
            <a:solidFill>
              <a:srgbClr val="E8EEF6"/>
            </a:solidFill>
            <a:prstDash val="solid"/>
          </a:ln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C0CBD617-8842-4985-AE21-202EDCA8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90472"/>
            <a:ext cx="23774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D2433"/>
                </a:solidFill>
                <a:latin typeface="Calibri"/>
                <a:ea typeface="Calibri"/>
                <a:cs typeface="Calibri"/>
              </a:rPr>
              <a:t>Se paga por transferencia y foto del comprobante</a:t>
            </a:r>
            <a:endParaRPr sz="125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7B6877BF-069F-45B3-894C-6AE1BB81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490472"/>
            <a:ext cx="2743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A3D6D"/>
                </a:solidFill>
                <a:latin typeface="Calibri"/>
                <a:ea typeface="Calibri"/>
                <a:cs typeface="Calibri"/>
              </a:rPr>
              <a:t>→</a:t>
            </a:r>
            <a:endParaRPr sz="16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13588C6B-0DC5-4A75-B9E6-F36B06EC0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490472"/>
            <a:ext cx="2286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D2433"/>
                </a:solidFill>
                <a:latin typeface="Calibri"/>
                <a:ea typeface="Calibri"/>
                <a:cs typeface="Calibri"/>
              </a:rPr>
              <a:t>Reserva con precio no se confirma sola: estado pago_por_verificar</a:t>
            </a:r>
            <a:endParaRPr sz="125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7CBF9544-212D-47CE-B2D1-4FF809ED8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14884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3D6D"/>
          </a:solidFill>
          <a:ln xmlns:a="http://schemas.openxmlformats.org/drawingml/2006/main" w="12700">
            <a:solidFill>
              <a:srgbClr val="1A3D6D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F283A9F0-F38D-4289-8BE4-E4405E42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14884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6C359EB4-A967-4B92-A811-25D4B03E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075688"/>
            <a:ext cx="507492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 w="12700">
            <a:solidFill>
              <a:srgbClr val="E8EEF6"/>
            </a:solidFill>
            <a:prstDash val="solid"/>
          </a:ln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4387F53A-2A8B-4F08-9DB0-A670A7C6C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148840"/>
            <a:ext cx="23774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D2433"/>
                </a:solidFill>
                <a:latin typeface="Calibri"/>
                <a:ea typeface="Calibri"/>
                <a:cs typeface="Calibri"/>
              </a:rPr>
              <a:t>Muchos organizadores no tienen RUC (SRI, RIMPE)</a:t>
            </a:r>
            <a:endParaRPr sz="125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67585FD0-AA41-483F-9C97-EDA7BB83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2148840"/>
            <a:ext cx="2743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A3D6D"/>
                </a:solidFill>
                <a:latin typeface="Calibri"/>
                <a:ea typeface="Calibri"/>
                <a:cs typeface="Calibri"/>
              </a:rPr>
              <a:t>→</a:t>
            </a:r>
            <a:endParaRPr sz="160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891D6DE8-6E28-4890-AE1E-A43562C4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148840"/>
            <a:ext cx="2286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D2433"/>
                </a:solidFill>
                <a:latin typeface="Calibri"/>
                <a:ea typeface="Calibri"/>
                <a:cs typeface="Calibri"/>
              </a:rPr>
              <a:t>RUC opcional; se factura con RUC o, si no hay, con cédula</a:t>
            </a:r>
            <a:endParaRPr sz="1250"/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DBD98489-E16A-4A57-8F01-B81A4461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807208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3D6D"/>
          </a:solidFill>
          <a:ln xmlns:a="http://schemas.openxmlformats.org/drawingml/2006/main" w="12700">
            <a:solidFill>
              <a:srgbClr val="1A3D6D"/>
            </a:solidFill>
            <a:prstDash val="solid"/>
          </a:ln>
        </p:spPr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430AD3B6-8552-4321-967B-9EFA92E7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807208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55A6EA5E-F080-46B4-A12C-05A063F2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734056"/>
            <a:ext cx="507492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 w="12700">
            <a:solidFill>
              <a:srgbClr val="E8EEF6"/>
            </a:solidFill>
            <a:prstDash val="solid"/>
          </a:ln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00F83668-E052-47C5-96C0-68C2C661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807208"/>
            <a:ext cx="23774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D2433"/>
                </a:solidFill>
                <a:latin typeface="Calibri"/>
                <a:ea typeface="Calibri"/>
                <a:cs typeface="Calibri"/>
              </a:rPr>
              <a:t>Canchas sin dirección estándar fuera de las grandes ciudades</a:t>
            </a:r>
            <a:endParaRPr sz="1250"/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3B0D6910-D149-46D6-BE45-E3C8EED8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2807208"/>
            <a:ext cx="2743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A3D6D"/>
                </a:solidFill>
                <a:latin typeface="Calibri"/>
                <a:ea typeface="Calibri"/>
                <a:cs typeface="Calibri"/>
              </a:rPr>
              <a:t>→</a:t>
            </a:r>
            <a:endParaRPr sz="1600"/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8EA008C6-25A1-4DBF-BAB6-E97E09197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807208"/>
            <a:ext cx="2286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D2433"/>
                </a:solidFill>
                <a:latin typeface="Calibri"/>
                <a:ea typeface="Calibri"/>
                <a:cs typeface="Calibri"/>
              </a:rPr>
              <a:t>Sede con referencia obligatoria; coordenadas opcionales</a:t>
            </a:r>
            <a:endParaRPr sz="1250"/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DBF5C5A8-A57B-4D29-B610-DC437EB0B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474720"/>
            <a:ext cx="557784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A3D6D"/>
            </a:solidFill>
            <a:prstDash val="solid"/>
          </a:ln>
        </p:spPr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8C53F19F-3B88-4532-B3F9-386088AE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593592"/>
            <a:ext cx="52120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A3D6D"/>
                </a:solidFill>
                <a:latin typeface="Calibri"/>
                <a:ea typeface="Calibri"/>
                <a:cs typeface="Calibri"/>
              </a:rPr>
              <a:t>Cambio en el modelo por la restricción 1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D2433"/>
                </a:solidFill>
                <a:latin typeface="Calibri"/>
                <a:ea typeface="Calibri"/>
                <a:cs typeface="Calibri"/>
              </a:rPr>
              <a:t>Se agregó el estado pago_por_verificar a Inscripción, la entidad Pago y el permiso del organizador para verificar. Sin ese paso, cualquiera confirmaría un cupo sin haber pagado.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12154063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586B5A6-72A1-4D06-8FC0-7E117BF0E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92608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3D6D"/>
          </a:solidFill>
          <a:ln xmlns:a="http://schemas.openxmlformats.org/drawingml/2006/main" w="12700">
            <a:solidFill>
              <a:srgbClr val="1A3D6D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7EB4361-8F91-4E47-AC6F-9925CD0C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92608"/>
            <a:ext cx="47548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2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F5DD67C-CED7-4279-97AC-C60FBF4A6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37744"/>
            <a:ext cx="49377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A3D6D"/>
                </a:solidFill>
                <a:latin typeface="Calibri"/>
                <a:ea typeface="Calibri"/>
                <a:cs typeface="Calibri"/>
              </a:rPr>
              <a:t>Modelo de datos</a:t>
            </a:r>
            <a:endParaRPr sz="26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CA71250-8311-47B4-8A01-484CD6647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658368"/>
            <a:ext cx="49377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B6B80"/>
                </a:solidFill>
                <a:latin typeface="Calibri"/>
                <a:ea typeface="Calibri"/>
                <a:cs typeface="Calibri"/>
              </a:rPr>
              <a:t>Ficha, sección 4 · los structs van en la ficha</a:t>
            </a:r>
            <a:endParaRPr sz="11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DE83955-D3BD-4D08-849A-DCF76B88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274320"/>
            <a:ext cx="3108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5B6B80"/>
                </a:solidFill>
                <a:latin typeface="Calibri"/>
                <a:ea typeface="Calibri"/>
                <a:cs typeface="Calibri"/>
              </a:rPr>
              <a:t>Grupo E · Mendoza · Quijije</a:t>
            </a:r>
            <a:endParaRPr sz="11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8DBC2072-1AFE-407B-AFE0-60DFB791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097280"/>
            <a:ext cx="2606040" cy="3337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C"/>
          </a:solidFill>
          <a:ln xmlns:a="http://schemas.openxmlformats.org/drawingml/2006/main" w="12700">
            <a:solidFill>
              <a:srgbClr val="E8C77A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CEB576D-35C7-4C43-8D17-8BE76CBB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216152"/>
            <a:ext cx="2286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A3D6D"/>
                </a:solidFill>
                <a:latin typeface="Calibri"/>
                <a:ea typeface="Calibri"/>
                <a:cs typeface="Calibri"/>
              </a:rPr>
              <a:t>Cumplimiento</a:t>
            </a:r>
            <a:endParaRPr sz="1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BA43A8E-CD0F-46CF-BE86-E44DC926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572768"/>
            <a:ext cx="228600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50">
                <a:solidFill>
                  <a:srgbClr val="1D2433"/>
                </a:solidFill>
                <a:latin typeface="Calibri"/>
                <a:ea typeface="Calibri"/>
                <a:cs typeface="Calibri"/>
              </a:rPr>
              <a:t>☑  Hasta seis entidades, con sus atributos clave</a:t>
            </a:r>
            <a:endParaRPr sz="1150"/>
          </a:p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50">
                <a:solidFill>
                  <a:srgbClr val="1D2433"/>
                </a:solidFill>
                <a:latin typeface="Calibri"/>
                <a:ea typeface="Calibri"/>
                <a:cs typeface="Calibri"/>
              </a:rPr>
              <a:t>☑  Relaciones con su cardinalidad</a:t>
            </a:r>
            <a:endParaRPr sz="1150"/>
          </a:p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50">
                <a:solidFill>
                  <a:srgbClr val="1D2433"/>
                </a:solidFill>
                <a:latin typeface="Calibri"/>
                <a:ea typeface="Calibri"/>
                <a:cs typeface="Calibri"/>
              </a:rPr>
              <a:t>☑  Enlace al diagrama completo del modelo</a:t>
            </a:r>
            <a:endParaRPr sz="1150"/>
          </a:p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50">
                <a:solidFill>
                  <a:srgbClr val="1D2433"/>
                </a:solidFill>
                <a:latin typeface="Calibri"/>
                <a:ea typeface="Calibri"/>
                <a:cs typeface="Calibri"/>
              </a:rPr>
              <a:t>☑  Enlace a la sección 4 de la ficha, donde están los structs</a:t>
            </a:r>
            <a:endParaRPr sz="11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7F0ECDD-57A3-41C1-96DA-8EC4CF4E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572000"/>
            <a:ext cx="84124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C7D3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0CC309D-154F-43EF-AB89-23FC5146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645152"/>
            <a:ext cx="8412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A3D6D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2c2e0c9be2974c45"/>
              </a:rPr>
              <a:t>Ficha · sección 4</a:t>
            </a:r>
            <a:r>
              <a:rPr sz="900" b="1">
                <a:solidFill>
                  <a:srgbClr val="1A3D6D"/>
                </a:solidFill>
                <a:latin typeface="Calibri"/>
                <a:ea typeface="Calibri"/>
                <a:cs typeface="Calibri"/>
              </a:rPr>
              <a:t>   ·   </a:t>
            </a:r>
            <a:r>
              <a:rPr sz="900" b="1">
                <a:solidFill>
                  <a:srgbClr val="1A3D6D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19eda1ce86854c42"/>
              </a:rPr>
              <a:t>Diagrama completo</a:t>
            </a:r>
            <a:endParaRPr sz="85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B54497D-4AC4-4F73-A727-B34627EF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078992"/>
            <a:ext cx="5577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A3D6D"/>
                </a:solidFill>
                <a:latin typeface="Calibri"/>
                <a:ea typeface="Calibri"/>
                <a:cs typeface="Calibri"/>
              </a:rPr>
              <a:t>Modelo · 5 entidades</a:t>
            </a:r>
            <a:endParaRPr sz="11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0F9EE889-CA60-43C1-9B72-DA591526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371600"/>
            <a:ext cx="173736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A3D6D"/>
            </a:solidFill>
            <a:prstDash val="solid"/>
          </a:ln>
        </p:spPr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6DBDF12B-C875-409E-9927-CAE067D5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371600"/>
            <a:ext cx="173736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D6D"/>
          </a:solidFill>
          <a:ln xmlns:a="http://schemas.openxmlformats.org/drawingml/2006/main" w="12700">
            <a:solidFill>
              <a:srgbClr val="1A3D6D"/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B4128EEC-13B1-446C-8E44-34D56FCD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371600"/>
            <a:ext cx="159105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Usuario</a:t>
            </a:r>
            <a:endParaRPr sz="11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74A7A01C-6678-408C-9561-13C13562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682496"/>
            <a:ext cx="159105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1D2433"/>
                </a:solidFill>
                <a:latin typeface="Calibri"/>
                <a:ea typeface="Calibri"/>
                <a:cs typeface="Calibri"/>
              </a:rPr>
              <a:t>nombre: texto</a:t>
            </a:r>
            <a:endParaRPr sz="900"/>
          </a:p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1D2433"/>
                </a:solidFill>
                <a:latin typeface="Calibri"/>
                <a:ea typeface="Calibri"/>
                <a:cs typeface="Calibri"/>
              </a:rPr>
              <a:t>rol: uno de 2 valores</a:t>
            </a:r>
            <a:endParaRPr sz="900"/>
          </a:p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1D2433"/>
                </a:solidFill>
                <a:latin typeface="Calibri"/>
                <a:ea typeface="Calibri"/>
                <a:cs typeface="Calibri"/>
              </a:rPr>
              <a:t>ruc: texto (opcional)</a:t>
            </a:r>
            <a:endParaRPr sz="90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C052F5A2-E6F9-48D7-A123-0E64FDF2E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1371600"/>
            <a:ext cx="173736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A3D6D"/>
            </a:solidFill>
            <a:prstDash val="solid"/>
          </a:ln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2366A708-475E-4D31-BCEF-2A1DFFAA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1371600"/>
            <a:ext cx="173736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D6D"/>
          </a:solidFill>
          <a:ln xmlns:a="http://schemas.openxmlformats.org/drawingml/2006/main" w="12700">
            <a:solidFill>
              <a:srgbClr val="1A3D6D"/>
            </a:solidFill>
            <a:prstDash val="solid"/>
          </a:ln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0959B28C-3625-45C8-ACE1-D4155B5B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1371600"/>
            <a:ext cx="159105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Sede</a:t>
            </a:r>
            <a:endParaRPr sz="11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19311B16-9852-4E14-AB66-940725F11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1682496"/>
            <a:ext cx="159105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1D2433"/>
                </a:solidFill>
                <a:latin typeface="Calibri"/>
                <a:ea typeface="Calibri"/>
                <a:cs typeface="Calibri"/>
              </a:rPr>
              <a:t>nombre: texto</a:t>
            </a:r>
            <a:endParaRPr sz="900"/>
          </a:p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1D2433"/>
                </a:solidFill>
                <a:latin typeface="Calibri"/>
                <a:ea typeface="Calibri"/>
                <a:cs typeface="Calibri"/>
              </a:rPr>
              <a:t>referencia: texto</a:t>
            </a:r>
            <a:endParaRPr sz="900"/>
          </a:p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1D2433"/>
                </a:solidFill>
                <a:latin typeface="Calibri"/>
                <a:ea typeface="Calibri"/>
                <a:cs typeface="Calibri"/>
              </a:rPr>
              <a:t>ciudad: texto</a:t>
            </a:r>
            <a:endParaRPr sz="900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0A0B0C80-382E-467D-8FB2-422D16ED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371600"/>
            <a:ext cx="173736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A3D6D"/>
            </a:solidFill>
            <a:prstDash val="solid"/>
          </a:ln>
        </p:spPr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72EEC551-032A-46B1-B4B7-A1AA2165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371600"/>
            <a:ext cx="173736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D6D"/>
          </a:solidFill>
          <a:ln xmlns:a="http://schemas.openxmlformats.org/drawingml/2006/main" w="12700">
            <a:solidFill>
              <a:srgbClr val="1A3D6D"/>
            </a:solidFill>
            <a:prstDash val="solid"/>
          </a:ln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2F9314FD-3942-404D-8666-F037DCCC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7952" y="1371600"/>
            <a:ext cx="159105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Evento</a:t>
            </a:r>
            <a:endParaRPr sz="110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E21C8CEA-A6F9-4947-804F-83D2DA01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7952" y="1682496"/>
            <a:ext cx="159105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1D2433"/>
                </a:solidFill>
                <a:latin typeface="Calibri"/>
                <a:ea typeface="Calibri"/>
                <a:cs typeface="Calibri"/>
              </a:rPr>
              <a:t>deporte: uno de 5 valores</a:t>
            </a:r>
            <a:endParaRPr sz="900"/>
          </a:p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1D2433"/>
                </a:solidFill>
                <a:latin typeface="Calibri"/>
                <a:ea typeface="Calibri"/>
                <a:cs typeface="Calibri"/>
              </a:rPr>
              <a:t>cupos: número entero</a:t>
            </a:r>
            <a:endParaRPr sz="900"/>
          </a:p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1D2433"/>
                </a:solidFill>
                <a:latin typeface="Calibri"/>
                <a:ea typeface="Calibri"/>
                <a:cs typeface="Calibri"/>
              </a:rPr>
              <a:t>precio: número decimal</a:t>
            </a:r>
            <a:endParaRPr sz="90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610EE801-7E80-44E8-8158-4D12B007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423160"/>
            <a:ext cx="173736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A3D6D"/>
            </a:solidFill>
            <a:prstDash val="solid"/>
          </a:ln>
        </p:spPr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6B95595F-D569-46E1-BF97-69F08354A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423160"/>
            <a:ext cx="173736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D6D"/>
          </a:solidFill>
          <a:ln xmlns:a="http://schemas.openxmlformats.org/drawingml/2006/main" w="12700">
            <a:solidFill>
              <a:srgbClr val="1A3D6D"/>
            </a:solidFill>
            <a:prstDash val="solid"/>
          </a:ln>
        </p:spPr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ED87EC7D-EDD0-41C1-A5A4-066F7557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2423160"/>
            <a:ext cx="159105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Inscripción</a:t>
            </a:r>
            <a:endParaRPr sz="1100"/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149AD25F-C242-46B2-BCCF-3992F8D8F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2734056"/>
            <a:ext cx="159105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1D2433"/>
                </a:solidFill>
                <a:latin typeface="Calibri"/>
                <a:ea typeface="Calibri"/>
                <a:cs typeface="Calibri"/>
              </a:rPr>
              <a:t>estado: uno de 4 valores</a:t>
            </a:r>
            <a:endParaRPr sz="900"/>
          </a:p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1D2433"/>
                </a:solidFill>
                <a:latin typeface="Calibri"/>
                <a:ea typeface="Calibri"/>
                <a:cs typeface="Calibri"/>
              </a:rPr>
              <a:t>jugador: ref. a Usuario</a:t>
            </a:r>
            <a:endParaRPr sz="900"/>
          </a:p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1D2433"/>
                </a:solidFill>
                <a:latin typeface="Calibri"/>
                <a:ea typeface="Calibri"/>
                <a:cs typeface="Calibri"/>
              </a:rPr>
              <a:t>evento: ref. a Evento</a:t>
            </a:r>
            <a:endParaRPr sz="900"/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DF038A9C-7C78-42BC-89B4-726044DB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2423160"/>
            <a:ext cx="173736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A3D6D"/>
            </a:solidFill>
            <a:prstDash val="solid"/>
          </a:ln>
        </p:spPr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0FD8AF80-EEB1-4721-8EAD-C178CBB4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2423160"/>
            <a:ext cx="173736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D6D"/>
          </a:solidFill>
          <a:ln xmlns:a="http://schemas.openxmlformats.org/drawingml/2006/main" w="12700">
            <a:solidFill>
              <a:srgbClr val="1A3D6D"/>
            </a:solidFill>
            <a:prstDash val="solid"/>
          </a:ln>
        </p:spPr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AFBD7880-157B-401A-8B16-CDF9B342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2423160"/>
            <a:ext cx="159105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Pago</a:t>
            </a:r>
            <a:endParaRPr sz="1100"/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0125B7D3-C476-4BD5-9FC5-36162C05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2734056"/>
            <a:ext cx="159105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1D2433"/>
                </a:solidFill>
                <a:latin typeface="Calibri"/>
                <a:ea typeface="Calibri"/>
                <a:cs typeface="Calibri"/>
              </a:rPr>
              <a:t>monto: número decimal</a:t>
            </a:r>
            <a:endParaRPr sz="900"/>
          </a:p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1D2433"/>
                </a:solidFill>
                <a:latin typeface="Calibri"/>
                <a:ea typeface="Calibri"/>
                <a:cs typeface="Calibri"/>
              </a:rPr>
              <a:t>referencia: texto</a:t>
            </a:r>
            <a:endParaRPr sz="900"/>
          </a:p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1D2433"/>
                </a:solidFill>
                <a:latin typeface="Calibri"/>
                <a:ea typeface="Calibri"/>
                <a:cs typeface="Calibri"/>
              </a:rPr>
              <a:t>verificado: sí/no</a:t>
            </a:r>
            <a:endParaRPr sz="900"/>
          </a:p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25235EC5-D2EF-4A8E-A7F7-A0A2D279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703320"/>
            <a:ext cx="55778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A3D6D"/>
                </a:solidFill>
                <a:latin typeface="Calibri"/>
                <a:ea typeface="Calibri"/>
                <a:cs typeface="Calibri"/>
              </a:rPr>
              <a:t>Relaciones  Usuario 1—N Evento (organiza)  ·  Sede 1—N Evento  ·  Evento 1—N Inscripción  ·  Usuario 1—N Inscripción (jugador)  ·  Inscripción 1—N Pago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5950483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F9D68DD-5D35-41CD-9E96-198AD57C8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92608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3D6D"/>
          </a:solidFill>
          <a:ln xmlns:a="http://schemas.openxmlformats.org/drawingml/2006/main" w="12700">
            <a:solidFill>
              <a:srgbClr val="1A3D6D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7BE6967-0B7F-46F9-9421-66B1FCC2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92608"/>
            <a:ext cx="47548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2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C700DF0-C02B-49B8-854B-3B477A17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37744"/>
            <a:ext cx="49377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A3D6D"/>
                </a:solidFill>
                <a:latin typeface="Calibri"/>
                <a:ea typeface="Calibri"/>
                <a:cs typeface="Calibri"/>
              </a:rPr>
              <a:t>Máquina de estados</a:t>
            </a:r>
            <a:endParaRPr sz="26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656283F-6EC0-4C23-AD9C-A33AE3AB3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658368"/>
            <a:ext cx="49377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B6B80"/>
                </a:solidFill>
                <a:latin typeface="Calibri"/>
                <a:ea typeface="Calibri"/>
                <a:cs typeface="Calibri"/>
              </a:rPr>
              <a:t>Ficha, sección 5</a:t>
            </a:r>
            <a:endParaRPr sz="11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30C5F40-AEB2-451C-B08D-442326327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274320"/>
            <a:ext cx="3108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5B6B80"/>
                </a:solidFill>
                <a:latin typeface="Calibri"/>
                <a:ea typeface="Calibri"/>
                <a:cs typeface="Calibri"/>
              </a:rPr>
              <a:t>Grupo E · Mendoza · Quijije</a:t>
            </a:r>
            <a:endParaRPr sz="11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01CDBB9-D1E3-46FB-8095-59E73BA2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097280"/>
            <a:ext cx="2606040" cy="3337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C"/>
          </a:solidFill>
          <a:ln xmlns:a="http://schemas.openxmlformats.org/drawingml/2006/main" w="12700">
            <a:solidFill>
              <a:srgbClr val="E8C77A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D53E4C5-BF51-4345-B321-D9DDEBA4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216152"/>
            <a:ext cx="2286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A3D6D"/>
                </a:solidFill>
                <a:latin typeface="Calibri"/>
                <a:ea typeface="Calibri"/>
                <a:cs typeface="Calibri"/>
              </a:rPr>
              <a:t>Cumplimiento</a:t>
            </a:r>
            <a:endParaRPr sz="1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AB5B77A-4634-4540-937A-8A0A9B26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572768"/>
            <a:ext cx="228600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50">
                <a:solidFill>
                  <a:srgbClr val="1D2433"/>
                </a:solidFill>
                <a:latin typeface="Calibri"/>
                <a:ea typeface="Calibri"/>
                <a:cs typeface="Calibri"/>
              </a:rPr>
              <a:t>☑  Tres o más estados, con el inicial marcado</a:t>
            </a:r>
            <a:endParaRPr sz="1150"/>
          </a:p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50">
                <a:solidFill>
                  <a:srgbClr val="1D2433"/>
                </a:solidFill>
                <a:latin typeface="Calibri"/>
                <a:ea typeface="Calibri"/>
                <a:cs typeface="Calibri"/>
              </a:rPr>
              <a:t>☑  Tabla de transiciones con quién y con qué condición</a:t>
            </a:r>
            <a:endParaRPr sz="1150"/>
          </a:p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50">
                <a:solidFill>
                  <a:srgbClr val="1D2433"/>
                </a:solidFill>
                <a:latin typeface="Calibri"/>
                <a:ea typeface="Calibri"/>
                <a:cs typeface="Calibri"/>
              </a:rPr>
              <a:t>☑  Una transición prohibida y su razón</a:t>
            </a:r>
            <a:endParaRPr sz="1150"/>
          </a:p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50">
                <a:solidFill>
                  <a:srgbClr val="1D2433"/>
                </a:solidFill>
                <a:latin typeface="Calibri"/>
                <a:ea typeface="Calibri"/>
                <a:cs typeface="Calibri"/>
              </a:rPr>
              <a:t>☑  Enlace al diagrama de estados</a:t>
            </a:r>
            <a:endParaRPr sz="1150"/>
          </a:p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50">
                <a:solidFill>
                  <a:srgbClr val="1D2433"/>
                </a:solidFill>
                <a:latin typeface="Calibri"/>
                <a:ea typeface="Calibri"/>
                <a:cs typeface="Calibri"/>
              </a:rPr>
              <a:t>☑  Enlace a la sección 5 de la ficha</a:t>
            </a:r>
            <a:endParaRPr sz="11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CB803981-288C-4D31-B6C7-99FB2DCF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572000"/>
            <a:ext cx="84124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C7D3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187A28B-9C1E-415E-837F-39D9DEEE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645152"/>
            <a:ext cx="8412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A3D6D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f5772f1d7e334074"/>
              </a:rPr>
              <a:t>Ficha · sección 5</a:t>
            </a:r>
            <a:r>
              <a:rPr sz="900" b="1">
                <a:solidFill>
                  <a:srgbClr val="1A3D6D"/>
                </a:solidFill>
                <a:latin typeface="Calibri"/>
                <a:ea typeface="Calibri"/>
                <a:cs typeface="Calibri"/>
              </a:rPr>
              <a:t>   ·   </a:t>
            </a:r>
            <a:r>
              <a:rPr sz="900" b="1">
                <a:solidFill>
                  <a:srgbClr val="1A3D6D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a1c13a8897ba47bb"/>
              </a:rPr>
              <a:t>Diagrama de estados</a:t>
            </a:r>
            <a:endParaRPr sz="85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BCAB72DF-CD00-4801-B881-C126206C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078992"/>
            <a:ext cx="2377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A3D6D"/>
                </a:solidFill>
                <a:latin typeface="Calibri"/>
                <a:ea typeface="Calibri"/>
                <a:cs typeface="Calibri"/>
              </a:rPr>
              <a:t>Estados de Inscripción</a:t>
            </a:r>
            <a:endParaRPr sz="11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629C0939-CFBC-4106-8510-C963DCDB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3040"/>
            <a:ext cx="1691640" cy="420000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1A3D6D"/>
          </a:solidFill>
          <a:ln xmlns:a="http://schemas.openxmlformats.org/drawingml/2006/main" w="12700">
            <a:solidFill>
              <a:srgbClr val="1A3D6D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9413C515-EADD-477E-BA5F-B8E2D64F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3040"/>
            <a:ext cx="1691640" cy="4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reservada</a:t>
            </a:r>
            <a:endParaRPr sz="125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ABFF6390-6CF2-4475-A171-E9E0F033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" y="1883040"/>
            <a:ext cx="0" cy="33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A3D6D"/>
            </a:solidFill>
            <a:prstDash val="solid"/>
            <a:tailEnd type="triangle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34F619D6-F216-49A8-923D-D3FC28F83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" y="1910880"/>
            <a:ext cx="822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B6B80"/>
                </a:solidFill>
                <a:latin typeface="Calibri"/>
                <a:ea typeface="Calibri"/>
                <a:cs typeface="Calibri"/>
              </a:rPr>
              <a:t>jugador</a:t>
            </a:r>
            <a:endParaRPr sz="100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D0FC9FA4-C1CC-4BAE-9322-1C55C62E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13040"/>
            <a:ext cx="1691640" cy="420000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E8EEF6"/>
          </a:solidFill>
          <a:ln xmlns:a="http://schemas.openxmlformats.org/drawingml/2006/main" w="12700">
            <a:solidFill>
              <a:srgbClr val="1A3D6D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62FF9CA2-BA51-4B6A-BC9D-8C5F9770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13040"/>
            <a:ext cx="1691640" cy="4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D2433"/>
                </a:solidFill>
                <a:latin typeface="Calibri"/>
                <a:ea typeface="Calibri"/>
                <a:cs typeface="Calibri"/>
              </a:rPr>
              <a:t>pago_por_verificar</a:t>
            </a:r>
            <a:endParaRPr sz="125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19A80B4A-B773-4997-A6DA-BFBDFFDC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" y="2633040"/>
            <a:ext cx="0" cy="33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A3D6D"/>
            </a:solidFill>
            <a:prstDash val="solid"/>
            <a:tailEnd type="triangle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760C06D8-CBE6-4C57-ABD0-86C43E850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" y="2660880"/>
            <a:ext cx="822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B6B80"/>
                </a:solidFill>
                <a:latin typeface="Calibri"/>
                <a:ea typeface="Calibri"/>
                <a:cs typeface="Calibri"/>
              </a:rPr>
              <a:t>organizador</a:t>
            </a:r>
            <a:endParaRPr sz="1000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F01B98D6-A422-49C7-A57E-6EBDB35F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63040"/>
            <a:ext cx="1691640" cy="420000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E8EEF6"/>
          </a:solidFill>
          <a:ln xmlns:a="http://schemas.openxmlformats.org/drawingml/2006/main" w="12700">
            <a:solidFill>
              <a:srgbClr val="1A3D6D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FFCF4CDD-17D0-47BE-B846-53E33F5B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63040"/>
            <a:ext cx="1691640" cy="4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D2433"/>
                </a:solidFill>
                <a:latin typeface="Calibri"/>
                <a:ea typeface="Calibri"/>
                <a:cs typeface="Calibri"/>
              </a:rPr>
              <a:t>confirmada</a:t>
            </a:r>
            <a:endParaRPr sz="125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69F0B9CD-5BA5-4A6F-9D65-F521B2EC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73040"/>
            <a:ext cx="914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5B6B80"/>
                </a:solidFill>
                <a:latin typeface="Calibri"/>
                <a:ea typeface="Calibri"/>
                <a:cs typeface="Calibri"/>
              </a:rPr>
              <a:t>inicial</a:t>
            </a:r>
            <a:endParaRPr sz="950"/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6924C419-792D-4E1E-97DC-8A0FB3D6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3923040"/>
            <a:ext cx="2011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5221F"/>
            </a:solidFill>
            <a:prstDash val="dash"/>
          </a:ln>
        </p:spPr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EBC67E87-C657-407F-B339-7891E54C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0008" y="3173040"/>
            <a:ext cx="0" cy="75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5221F"/>
            </a:solidFill>
            <a:prstDash val="dash"/>
          </a:ln>
        </p:spPr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F079D38A-AC4C-405E-AAAC-4F43BCBF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148840" y="3173040"/>
            <a:ext cx="20116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5221F"/>
            </a:solidFill>
            <a:prstDash val="dash"/>
            <a:tailEnd type="triangle"/>
          </a:ln>
        </p:spPr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45AB7906-A687-4D03-971B-212C452DB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410880"/>
            <a:ext cx="219456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C5221F"/>
                </a:solidFill>
                <a:latin typeface="Calibri"/>
                <a:ea typeface="Calibri"/>
                <a:cs typeface="Calibri"/>
              </a:rPr>
              <a:t>✕</a:t>
            </a:r>
            <a:endParaRPr sz="1400"/>
          </a:p>
        </p:txBody>
      </p:sp>
      <p:graphicFrame>
        <p:nvGraphicFramePr>
          <p:cNvPr id="63" name="Table 0"/>
          <p:cNvGraphicFramePr/>
          <p:nvPr/>
        </p:nvGraphicFramePr>
        <p:xfrm>
          <a:off xmlns:a="http://schemas.openxmlformats.org/drawingml/2006/main" x="2560000" y="1371600"/>
          <a:ext xmlns:a="http://schemas.openxmlformats.org/drawingml/2006/main" cx="3560000" cy="200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20000"/>
                <a:gridCol w="1020000"/>
                <a:gridCol w="760000"/>
                <a:gridCol w="760000"/>
              </a:tblGrid>
              <a:tr h="25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De</a:t>
                      </a:r>
                      <a:endParaRPr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6576" marR="36576" marT="36576" marB="36576">
                    <a:lnL w="6350" cmpd="sng">
                      <a:solidFill>
                        <a:srgbClr val="BFC7D3"/>
                      </a:solidFill>
                      <a:prstDash val="solid"/>
                    </a:lnL>
                    <a:lnR w="6350" cmpd="sng">
                      <a:solidFill>
                        <a:srgbClr val="BFC7D3"/>
                      </a:solidFill>
                      <a:prstDash val="solid"/>
                    </a:lnR>
                    <a:lnT w="6350" cmpd="sng">
                      <a:solidFill>
                        <a:srgbClr val="BFC7D3"/>
                      </a:solidFill>
                      <a:prstDash val="solid"/>
                    </a:lnT>
                    <a:lnB w="6350" cmpd="sng">
                      <a:solidFill>
                        <a:srgbClr val="BFC7D3"/>
                      </a:solidFill>
                      <a:prstDash val="solid"/>
                    </a:lnB>
                    <a:solidFill>
                      <a:srgbClr val="1A3D6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</a:t>
                      </a:r>
                      <a:endParaRPr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6576" marR="36576" marT="36576" marB="36576">
                    <a:lnL w="6350" cmpd="sng">
                      <a:solidFill>
                        <a:srgbClr val="BFC7D3"/>
                      </a:solidFill>
                      <a:prstDash val="solid"/>
                    </a:lnL>
                    <a:lnR w="6350" cmpd="sng">
                      <a:solidFill>
                        <a:srgbClr val="BFC7D3"/>
                      </a:solidFill>
                      <a:prstDash val="solid"/>
                    </a:lnR>
                    <a:lnT w="6350" cmpd="sng">
                      <a:solidFill>
                        <a:srgbClr val="BFC7D3"/>
                      </a:solidFill>
                      <a:prstDash val="solid"/>
                    </a:lnT>
                    <a:lnB w="6350" cmpd="sng">
                      <a:solidFill>
                        <a:srgbClr val="BFC7D3"/>
                      </a:solidFill>
                      <a:prstDash val="solid"/>
                    </a:lnB>
                    <a:solidFill>
                      <a:srgbClr val="1A3D6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Quién</a:t>
                      </a:r>
                      <a:endParaRPr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6576" marR="36576" marT="36576" marB="36576">
                    <a:lnL w="6350" cmpd="sng">
                      <a:solidFill>
                        <a:srgbClr val="BFC7D3"/>
                      </a:solidFill>
                      <a:prstDash val="solid"/>
                    </a:lnL>
                    <a:lnR w="6350" cmpd="sng">
                      <a:solidFill>
                        <a:srgbClr val="BFC7D3"/>
                      </a:solidFill>
                      <a:prstDash val="solid"/>
                    </a:lnR>
                    <a:lnT w="6350" cmpd="sng">
                      <a:solidFill>
                        <a:srgbClr val="BFC7D3"/>
                      </a:solidFill>
                      <a:prstDash val="solid"/>
                    </a:lnT>
                    <a:lnB w="6350" cmpd="sng">
                      <a:solidFill>
                        <a:srgbClr val="BFC7D3"/>
                      </a:solidFill>
                      <a:prstDash val="solid"/>
                    </a:lnB>
                    <a:solidFill>
                      <a:srgbClr val="1A3D6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Condición</a:t>
                      </a:r>
                      <a:endParaRPr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6576" marR="36576" marT="36576" marB="36576">
                    <a:lnL w="6350" cmpd="sng">
                      <a:solidFill>
                        <a:srgbClr val="BFC7D3"/>
                      </a:solidFill>
                      <a:prstDash val="solid"/>
                    </a:lnL>
                    <a:lnR w="6350" cmpd="sng">
                      <a:solidFill>
                        <a:srgbClr val="BFC7D3"/>
                      </a:solidFill>
                      <a:prstDash val="solid"/>
                    </a:lnR>
                    <a:lnT w="6350" cmpd="sng">
                      <a:solidFill>
                        <a:srgbClr val="BFC7D3"/>
                      </a:solidFill>
                      <a:prstDash val="solid"/>
                    </a:lnT>
                    <a:lnB w="6350" cmpd="sng">
                      <a:solidFill>
                        <a:srgbClr val="BFC7D3"/>
                      </a:solidFill>
                      <a:prstDash val="solid"/>
                    </a:lnB>
                    <a:solidFill>
                      <a:srgbClr val="1A3D6D"/>
                    </a:solidFill>
                  </a:tcPr>
                </a:tc>
              </a:tr>
              <a:tr h="25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D2433"/>
                          </a:solidFill>
                          <a:latin typeface="Calibri"/>
                          <a:ea typeface="Calibri"/>
                          <a:cs typeface="Calibri"/>
                        </a:rPr>
                        <a:t>reservada</a:t>
                      </a:r>
                      <a:endParaRPr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6576" marR="36576" marT="36576" marB="36576">
                    <a:lnL w="6350" cmpd="sng">
                      <a:solidFill>
                        <a:srgbClr val="BFC7D3"/>
                      </a:solidFill>
                      <a:prstDash val="solid"/>
                    </a:lnL>
                    <a:lnR w="6350" cmpd="sng">
                      <a:solidFill>
                        <a:srgbClr val="BFC7D3"/>
                      </a:solidFill>
                      <a:prstDash val="solid"/>
                    </a:lnR>
                    <a:lnT w="6350" cmpd="sng">
                      <a:solidFill>
                        <a:srgbClr val="BFC7D3"/>
                      </a:solidFill>
                      <a:prstDash val="solid"/>
                    </a:lnT>
                    <a:lnB w="6350" cmpd="sng">
                      <a:solidFill>
                        <a:srgbClr val="BFC7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D2433"/>
                          </a:solidFill>
                          <a:latin typeface="Calibri"/>
                          <a:ea typeface="Calibri"/>
                          <a:cs typeface="Calibri"/>
                        </a:rPr>
                        <a:t>pago_por_verificar</a:t>
                      </a:r>
                      <a:endParaRPr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6576" marR="36576" marT="36576" marB="36576">
                    <a:lnL w="6350" cmpd="sng">
                      <a:solidFill>
                        <a:srgbClr val="BFC7D3"/>
                      </a:solidFill>
                      <a:prstDash val="solid"/>
                    </a:lnL>
                    <a:lnR w="6350" cmpd="sng">
                      <a:solidFill>
                        <a:srgbClr val="BFC7D3"/>
                      </a:solidFill>
                      <a:prstDash val="solid"/>
                    </a:lnR>
                    <a:lnT w="6350" cmpd="sng">
                      <a:solidFill>
                        <a:srgbClr val="BFC7D3"/>
                      </a:solidFill>
                      <a:prstDash val="solid"/>
                    </a:lnT>
                    <a:lnB w="6350" cmpd="sng">
                      <a:solidFill>
                        <a:srgbClr val="BFC7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D2433"/>
                          </a:solidFill>
                          <a:latin typeface="Calibri"/>
                          <a:ea typeface="Calibri"/>
                          <a:cs typeface="Calibri"/>
                        </a:rPr>
                        <a:t>jugador</a:t>
                      </a:r>
                      <a:endParaRPr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6576" marR="36576" marT="36576" marB="36576">
                    <a:lnL w="6350" cmpd="sng">
                      <a:solidFill>
                        <a:srgbClr val="BFC7D3"/>
                      </a:solidFill>
                      <a:prstDash val="solid"/>
                    </a:lnL>
                    <a:lnR w="6350" cmpd="sng">
                      <a:solidFill>
                        <a:srgbClr val="BFC7D3"/>
                      </a:solidFill>
                      <a:prstDash val="solid"/>
                    </a:lnR>
                    <a:lnT w="6350" cmpd="sng">
                      <a:solidFill>
                        <a:srgbClr val="BFC7D3"/>
                      </a:solidFill>
                      <a:prstDash val="solid"/>
                    </a:lnT>
                    <a:lnB w="6350" cmpd="sng">
                      <a:solidFill>
                        <a:srgbClr val="BFC7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D2433"/>
                          </a:solidFill>
                          <a:latin typeface="Calibri"/>
                          <a:ea typeface="Calibri"/>
                          <a:cs typeface="Calibri"/>
                        </a:rPr>
                        <a:t>de pago</a:t>
                      </a:r>
                      <a:endParaRPr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6576" marR="36576" marT="36576" marB="36576">
                    <a:lnL w="6350" cmpd="sng">
                      <a:solidFill>
                        <a:srgbClr val="BFC7D3"/>
                      </a:solidFill>
                      <a:prstDash val="solid"/>
                    </a:lnL>
                    <a:lnR w="6350" cmpd="sng">
                      <a:solidFill>
                        <a:srgbClr val="BFC7D3"/>
                      </a:solidFill>
                      <a:prstDash val="solid"/>
                    </a:lnR>
                    <a:lnT w="6350" cmpd="sng">
                      <a:solidFill>
                        <a:srgbClr val="BFC7D3"/>
                      </a:solidFill>
                      <a:prstDash val="solid"/>
                    </a:lnT>
                    <a:lnB w="6350" cmpd="sng">
                      <a:solidFill>
                        <a:srgbClr val="BFC7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D2433"/>
                          </a:solidFill>
                          <a:latin typeface="Calibri"/>
                          <a:ea typeface="Calibri"/>
                          <a:cs typeface="Calibri"/>
                        </a:rPr>
                        <a:t>reservada</a:t>
                      </a:r>
                      <a:endParaRPr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6576" marR="36576" marT="36576" marB="36576">
                    <a:lnL w="6350" cmpd="sng">
                      <a:solidFill>
                        <a:srgbClr val="BFC7D3"/>
                      </a:solidFill>
                      <a:prstDash val="solid"/>
                    </a:lnL>
                    <a:lnR w="6350" cmpd="sng">
                      <a:solidFill>
                        <a:srgbClr val="BFC7D3"/>
                      </a:solidFill>
                      <a:prstDash val="solid"/>
                    </a:lnR>
                    <a:lnT w="6350" cmpd="sng">
                      <a:solidFill>
                        <a:srgbClr val="BFC7D3"/>
                      </a:solidFill>
                      <a:prstDash val="solid"/>
                    </a:lnT>
                    <a:lnB w="6350" cmpd="sng">
                      <a:solidFill>
                        <a:srgbClr val="BFC7D3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D2433"/>
                          </a:solidFill>
                          <a:latin typeface="Calibri"/>
                          <a:ea typeface="Calibri"/>
                          <a:cs typeface="Calibri"/>
                        </a:rPr>
                        <a:t>confirmada</a:t>
                      </a:r>
                      <a:endParaRPr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6576" marR="36576" marT="36576" marB="36576">
                    <a:lnL w="6350" cmpd="sng">
                      <a:solidFill>
                        <a:srgbClr val="BFC7D3"/>
                      </a:solidFill>
                      <a:prstDash val="solid"/>
                    </a:lnL>
                    <a:lnR w="6350" cmpd="sng">
                      <a:solidFill>
                        <a:srgbClr val="BFC7D3"/>
                      </a:solidFill>
                      <a:prstDash val="solid"/>
                    </a:lnR>
                    <a:lnT w="6350" cmpd="sng">
                      <a:solidFill>
                        <a:srgbClr val="BFC7D3"/>
                      </a:solidFill>
                      <a:prstDash val="solid"/>
                    </a:lnT>
                    <a:lnB w="6350" cmpd="sng">
                      <a:solidFill>
                        <a:srgbClr val="BFC7D3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D2433"/>
                          </a:solidFill>
                          <a:latin typeface="Calibri"/>
                          <a:ea typeface="Calibri"/>
                          <a:cs typeface="Calibri"/>
                        </a:rPr>
                        <a:t>jugador</a:t>
                      </a:r>
                      <a:endParaRPr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6576" marR="36576" marT="36576" marB="36576">
                    <a:lnL w="6350" cmpd="sng">
                      <a:solidFill>
                        <a:srgbClr val="BFC7D3"/>
                      </a:solidFill>
                      <a:prstDash val="solid"/>
                    </a:lnL>
                    <a:lnR w="6350" cmpd="sng">
                      <a:solidFill>
                        <a:srgbClr val="BFC7D3"/>
                      </a:solidFill>
                      <a:prstDash val="solid"/>
                    </a:lnR>
                    <a:lnT w="6350" cmpd="sng">
                      <a:solidFill>
                        <a:srgbClr val="BFC7D3"/>
                      </a:solidFill>
                      <a:prstDash val="solid"/>
                    </a:lnT>
                    <a:lnB w="6350" cmpd="sng">
                      <a:solidFill>
                        <a:srgbClr val="BFC7D3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D2433"/>
                          </a:solidFill>
                          <a:latin typeface="Calibri"/>
                          <a:ea typeface="Calibri"/>
                          <a:cs typeface="Calibri"/>
                        </a:rPr>
                        <a:t>gratis</a:t>
                      </a:r>
                      <a:endParaRPr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6576" marR="36576" marT="36576" marB="36576">
                    <a:lnL w="6350" cmpd="sng">
                      <a:solidFill>
                        <a:srgbClr val="BFC7D3"/>
                      </a:solidFill>
                      <a:prstDash val="solid"/>
                    </a:lnL>
                    <a:lnR w="6350" cmpd="sng">
                      <a:solidFill>
                        <a:srgbClr val="BFC7D3"/>
                      </a:solidFill>
                      <a:prstDash val="solid"/>
                    </a:lnR>
                    <a:lnT w="6350" cmpd="sng">
                      <a:solidFill>
                        <a:srgbClr val="BFC7D3"/>
                      </a:solidFill>
                      <a:prstDash val="solid"/>
                    </a:lnT>
                    <a:lnB w="6350" cmpd="sng">
                      <a:solidFill>
                        <a:srgbClr val="BFC7D3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</a:tr>
              <a:tr h="25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D2433"/>
                          </a:solidFill>
                          <a:latin typeface="Calibri"/>
                          <a:ea typeface="Calibri"/>
                          <a:cs typeface="Calibri"/>
                        </a:rPr>
                        <a:t>pago_por_verificar</a:t>
                      </a:r>
                      <a:endParaRPr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6576" marR="36576" marT="36576" marB="36576">
                    <a:lnL w="6350" cmpd="sng">
                      <a:solidFill>
                        <a:srgbClr val="BFC7D3"/>
                      </a:solidFill>
                      <a:prstDash val="solid"/>
                    </a:lnL>
                    <a:lnR w="6350" cmpd="sng">
                      <a:solidFill>
                        <a:srgbClr val="BFC7D3"/>
                      </a:solidFill>
                      <a:prstDash val="solid"/>
                    </a:lnR>
                    <a:lnT w="6350" cmpd="sng">
                      <a:solidFill>
                        <a:srgbClr val="BFC7D3"/>
                      </a:solidFill>
                      <a:prstDash val="solid"/>
                    </a:lnT>
                    <a:lnB w="6350" cmpd="sng">
                      <a:solidFill>
                        <a:srgbClr val="BFC7D3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D2433"/>
                          </a:solidFill>
                          <a:latin typeface="Calibri"/>
                          <a:ea typeface="Calibri"/>
                          <a:cs typeface="Calibri"/>
                        </a:rPr>
                        <a:t>confirmada</a:t>
                      </a:r>
                      <a:endParaRPr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6576" marR="36576" marT="36576" marB="36576">
                    <a:lnL w="6350" cmpd="sng">
                      <a:solidFill>
                        <a:srgbClr val="BFC7D3"/>
                      </a:solidFill>
                      <a:prstDash val="solid"/>
                    </a:lnL>
                    <a:lnR w="6350" cmpd="sng">
                      <a:solidFill>
                        <a:srgbClr val="BFC7D3"/>
                      </a:solidFill>
                      <a:prstDash val="solid"/>
                    </a:lnR>
                    <a:lnT w="6350" cmpd="sng">
                      <a:solidFill>
                        <a:srgbClr val="BFC7D3"/>
                      </a:solidFill>
                      <a:prstDash val="solid"/>
                    </a:lnT>
                    <a:lnB w="6350" cmpd="sng">
                      <a:solidFill>
                        <a:srgbClr val="BFC7D3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D2433"/>
                          </a:solidFill>
                          <a:latin typeface="Calibri"/>
                          <a:ea typeface="Calibri"/>
                          <a:cs typeface="Calibri"/>
                        </a:rPr>
                        <a:t>organizador</a:t>
                      </a:r>
                      <a:endParaRPr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6576" marR="36576" marT="36576" marB="36576">
                    <a:lnL w="6350" cmpd="sng">
                      <a:solidFill>
                        <a:srgbClr val="BFC7D3"/>
                      </a:solidFill>
                      <a:prstDash val="solid"/>
                    </a:lnL>
                    <a:lnR w="6350" cmpd="sng">
                      <a:solidFill>
                        <a:srgbClr val="BFC7D3"/>
                      </a:solidFill>
                      <a:prstDash val="solid"/>
                    </a:lnR>
                    <a:lnT w="6350" cmpd="sng">
                      <a:solidFill>
                        <a:srgbClr val="BFC7D3"/>
                      </a:solidFill>
                      <a:prstDash val="solid"/>
                    </a:lnT>
                    <a:lnB w="6350" cmpd="sng">
                      <a:solidFill>
                        <a:srgbClr val="BFC7D3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D2433"/>
                          </a:solidFill>
                          <a:latin typeface="Calibri"/>
                          <a:ea typeface="Calibri"/>
                          <a:cs typeface="Calibri"/>
                        </a:rPr>
                        <a:t>pago coincide</a:t>
                      </a:r>
                      <a:endParaRPr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6576" marR="36576" marT="36576" marB="36576">
                    <a:lnL w="6350" cmpd="sng">
                      <a:solidFill>
                        <a:srgbClr val="BFC7D3"/>
                      </a:solidFill>
                      <a:prstDash val="solid"/>
                    </a:lnL>
                    <a:lnR w="6350" cmpd="sng">
                      <a:solidFill>
                        <a:srgbClr val="BFC7D3"/>
                      </a:solidFill>
                      <a:prstDash val="solid"/>
                    </a:lnR>
                    <a:lnT w="6350" cmpd="sng">
                      <a:solidFill>
                        <a:srgbClr val="BFC7D3"/>
                      </a:solidFill>
                      <a:prstDash val="solid"/>
                    </a:lnT>
                    <a:lnB w="6350" cmpd="sng">
                      <a:solidFill>
                        <a:srgbClr val="BFC7D3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</a:tr>
              <a:tr h="25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D2433"/>
                          </a:solidFill>
                          <a:latin typeface="Calibri"/>
                          <a:ea typeface="Calibri"/>
                          <a:cs typeface="Calibri"/>
                        </a:rPr>
                        <a:t>pago_por_verificar</a:t>
                      </a:r>
                      <a:endParaRPr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6576" marR="36576" marT="36576" marB="36576">
                    <a:lnL w="6350" cmpd="sng">
                      <a:solidFill>
                        <a:srgbClr val="BFC7D3"/>
                      </a:solidFill>
                      <a:prstDash val="solid"/>
                    </a:lnL>
                    <a:lnR w="6350" cmpd="sng">
                      <a:solidFill>
                        <a:srgbClr val="BFC7D3"/>
                      </a:solidFill>
                      <a:prstDash val="solid"/>
                    </a:lnR>
                    <a:lnT w="6350" cmpd="sng">
                      <a:solidFill>
                        <a:srgbClr val="BFC7D3"/>
                      </a:solidFill>
                      <a:prstDash val="solid"/>
                    </a:lnT>
                    <a:lnB w="6350" cmpd="sng">
                      <a:solidFill>
                        <a:srgbClr val="BFC7D3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D2433"/>
                          </a:solidFill>
                          <a:latin typeface="Calibri"/>
                          <a:ea typeface="Calibri"/>
                          <a:cs typeface="Calibri"/>
                        </a:rPr>
                        <a:t>reservada</a:t>
                      </a:r>
                      <a:endParaRPr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6576" marR="36576" marT="36576" marB="36576">
                    <a:lnL w="6350" cmpd="sng">
                      <a:solidFill>
                        <a:srgbClr val="BFC7D3"/>
                      </a:solidFill>
                      <a:prstDash val="solid"/>
                    </a:lnL>
                    <a:lnR w="6350" cmpd="sng">
                      <a:solidFill>
                        <a:srgbClr val="BFC7D3"/>
                      </a:solidFill>
                      <a:prstDash val="solid"/>
                    </a:lnR>
                    <a:lnT w="6350" cmpd="sng">
                      <a:solidFill>
                        <a:srgbClr val="BFC7D3"/>
                      </a:solidFill>
                      <a:prstDash val="solid"/>
                    </a:lnT>
                    <a:lnB w="6350" cmpd="sng">
                      <a:solidFill>
                        <a:srgbClr val="BFC7D3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D2433"/>
                          </a:solidFill>
                          <a:latin typeface="Calibri"/>
                          <a:ea typeface="Calibri"/>
                          <a:cs typeface="Calibri"/>
                        </a:rPr>
                        <a:t>organizador</a:t>
                      </a:r>
                      <a:endParaRPr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6576" marR="36576" marT="36576" marB="36576">
                    <a:lnL w="6350" cmpd="sng">
                      <a:solidFill>
                        <a:srgbClr val="BFC7D3"/>
                      </a:solidFill>
                      <a:prstDash val="solid"/>
                    </a:lnL>
                    <a:lnR w="6350" cmpd="sng">
                      <a:solidFill>
                        <a:srgbClr val="BFC7D3"/>
                      </a:solidFill>
                      <a:prstDash val="solid"/>
                    </a:lnR>
                    <a:lnT w="6350" cmpd="sng">
                      <a:solidFill>
                        <a:srgbClr val="BFC7D3"/>
                      </a:solidFill>
                      <a:prstDash val="solid"/>
                    </a:lnT>
                    <a:lnB w="6350" cmpd="sng">
                      <a:solidFill>
                        <a:srgbClr val="BFC7D3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D2433"/>
                          </a:solidFill>
                          <a:latin typeface="Calibri"/>
                          <a:ea typeface="Calibri"/>
                          <a:cs typeface="Calibri"/>
                        </a:rPr>
                        <a:t>no coincide</a:t>
                      </a:r>
                      <a:endParaRPr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6576" marR="36576" marT="36576" marB="36576">
                    <a:lnL w="6350" cmpd="sng">
                      <a:solidFill>
                        <a:srgbClr val="BFC7D3"/>
                      </a:solidFill>
                      <a:prstDash val="solid"/>
                    </a:lnL>
                    <a:lnR w="6350" cmpd="sng">
                      <a:solidFill>
                        <a:srgbClr val="BFC7D3"/>
                      </a:solidFill>
                      <a:prstDash val="solid"/>
                    </a:lnR>
                    <a:lnT w="6350" cmpd="sng">
                      <a:solidFill>
                        <a:srgbClr val="BFC7D3"/>
                      </a:solidFill>
                      <a:prstDash val="solid"/>
                    </a:lnT>
                    <a:lnB w="6350" cmpd="sng">
                      <a:solidFill>
                        <a:srgbClr val="BFC7D3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</a:tr>
              <a:tr h="25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D2433"/>
                          </a:solidFill>
                          <a:latin typeface="Calibri"/>
                          <a:ea typeface="Calibri"/>
                          <a:cs typeface="Calibri"/>
                        </a:rPr>
                        <a:t>reservada</a:t>
                      </a:r>
                      <a:endParaRPr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6576" marR="36576" marT="36576" marB="36576">
                    <a:lnL w="6350" cmpd="sng">
                      <a:solidFill>
                        <a:srgbClr val="BFC7D3"/>
                      </a:solidFill>
                      <a:prstDash val="solid"/>
                    </a:lnL>
                    <a:lnR w="6350" cmpd="sng">
                      <a:solidFill>
                        <a:srgbClr val="BFC7D3"/>
                      </a:solidFill>
                      <a:prstDash val="solid"/>
                    </a:lnR>
                    <a:lnT w="6350" cmpd="sng">
                      <a:solidFill>
                        <a:srgbClr val="BFC7D3"/>
                      </a:solidFill>
                      <a:prstDash val="solid"/>
                    </a:lnT>
                    <a:lnB w="6350" cmpd="sng">
                      <a:solidFill>
                        <a:srgbClr val="BFC7D3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D2433"/>
                          </a:solidFill>
                          <a:latin typeface="Calibri"/>
                          <a:ea typeface="Calibri"/>
                          <a:cs typeface="Calibri"/>
                        </a:rPr>
                        <a:t>cancelada</a:t>
                      </a:r>
                      <a:endParaRPr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6576" marR="36576" marT="36576" marB="36576">
                    <a:lnL w="6350" cmpd="sng">
                      <a:solidFill>
                        <a:srgbClr val="BFC7D3"/>
                      </a:solidFill>
                      <a:prstDash val="solid"/>
                    </a:lnL>
                    <a:lnR w="6350" cmpd="sng">
                      <a:solidFill>
                        <a:srgbClr val="BFC7D3"/>
                      </a:solidFill>
                      <a:prstDash val="solid"/>
                    </a:lnR>
                    <a:lnT w="6350" cmpd="sng">
                      <a:solidFill>
                        <a:srgbClr val="BFC7D3"/>
                      </a:solidFill>
                      <a:prstDash val="solid"/>
                    </a:lnT>
                    <a:lnB w="6350" cmpd="sng">
                      <a:solidFill>
                        <a:srgbClr val="BFC7D3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D2433"/>
                          </a:solidFill>
                          <a:latin typeface="Calibri"/>
                          <a:ea typeface="Calibri"/>
                          <a:cs typeface="Calibri"/>
                        </a:rPr>
                        <a:t>jugador/org.</a:t>
                      </a:r>
                      <a:endParaRPr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6576" marR="36576" marT="36576" marB="36576">
                    <a:lnL w="6350" cmpd="sng">
                      <a:solidFill>
                        <a:srgbClr val="BFC7D3"/>
                      </a:solidFill>
                      <a:prstDash val="solid"/>
                    </a:lnL>
                    <a:lnR w="6350" cmpd="sng">
                      <a:solidFill>
                        <a:srgbClr val="BFC7D3"/>
                      </a:solidFill>
                      <a:prstDash val="solid"/>
                    </a:lnR>
                    <a:lnT w="6350" cmpd="sng">
                      <a:solidFill>
                        <a:srgbClr val="BFC7D3"/>
                      </a:solidFill>
                      <a:prstDash val="solid"/>
                    </a:lnT>
                    <a:lnB w="6350" cmpd="sng">
                      <a:solidFill>
                        <a:srgbClr val="BFC7D3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D2433"/>
                          </a:solidFill>
                          <a:latin typeface="Calibri"/>
                          <a:ea typeface="Calibri"/>
                          <a:cs typeface="Calibri"/>
                        </a:rPr>
                        <a:t>no empezó</a:t>
                      </a:r>
                      <a:endParaRPr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6576" marR="36576" marT="36576" marB="36576">
                    <a:lnL w="6350" cmpd="sng">
                      <a:solidFill>
                        <a:srgbClr val="BFC7D3"/>
                      </a:solidFill>
                      <a:prstDash val="solid"/>
                    </a:lnL>
                    <a:lnR w="6350" cmpd="sng">
                      <a:solidFill>
                        <a:srgbClr val="BFC7D3"/>
                      </a:solidFill>
                      <a:prstDash val="solid"/>
                    </a:lnR>
                    <a:lnT w="6350" cmpd="sng">
                      <a:solidFill>
                        <a:srgbClr val="BFC7D3"/>
                      </a:solidFill>
                      <a:prstDash val="solid"/>
                    </a:lnT>
                    <a:lnB w="6350" cmpd="sng">
                      <a:solidFill>
                        <a:srgbClr val="BFC7D3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</a:tr>
              <a:tr h="25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D2433"/>
                          </a:solidFill>
                          <a:latin typeface="Calibri"/>
                          <a:ea typeface="Calibri"/>
                          <a:cs typeface="Calibri"/>
                        </a:rPr>
                        <a:t>pago_por_verificar</a:t>
                      </a:r>
                      <a:endParaRPr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6576" marR="36576" marT="36576" marB="36576">
                    <a:lnL w="6350" cmpd="sng">
                      <a:solidFill>
                        <a:srgbClr val="BFC7D3"/>
                      </a:solidFill>
                      <a:prstDash val="solid"/>
                    </a:lnL>
                    <a:lnR w="6350" cmpd="sng">
                      <a:solidFill>
                        <a:srgbClr val="BFC7D3"/>
                      </a:solidFill>
                      <a:prstDash val="solid"/>
                    </a:lnR>
                    <a:lnT w="6350" cmpd="sng">
                      <a:solidFill>
                        <a:srgbClr val="BFC7D3"/>
                      </a:solidFill>
                      <a:prstDash val="solid"/>
                    </a:lnT>
                    <a:lnB w="6350" cmpd="sng">
                      <a:solidFill>
                        <a:srgbClr val="BFC7D3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D2433"/>
                          </a:solidFill>
                          <a:latin typeface="Calibri"/>
                          <a:ea typeface="Calibri"/>
                          <a:cs typeface="Calibri"/>
                        </a:rPr>
                        <a:t>cancelada</a:t>
                      </a:r>
                      <a:endParaRPr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6576" marR="36576" marT="36576" marB="36576">
                    <a:lnL w="6350" cmpd="sng">
                      <a:solidFill>
                        <a:srgbClr val="BFC7D3"/>
                      </a:solidFill>
                      <a:prstDash val="solid"/>
                    </a:lnL>
                    <a:lnR w="6350" cmpd="sng">
                      <a:solidFill>
                        <a:srgbClr val="BFC7D3"/>
                      </a:solidFill>
                      <a:prstDash val="solid"/>
                    </a:lnR>
                    <a:lnT w="6350" cmpd="sng">
                      <a:solidFill>
                        <a:srgbClr val="BFC7D3"/>
                      </a:solidFill>
                      <a:prstDash val="solid"/>
                    </a:lnT>
                    <a:lnB w="6350" cmpd="sng">
                      <a:solidFill>
                        <a:srgbClr val="BFC7D3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D2433"/>
                          </a:solidFill>
                          <a:latin typeface="Calibri"/>
                          <a:ea typeface="Calibri"/>
                          <a:cs typeface="Calibri"/>
                        </a:rPr>
                        <a:t>jugador/org.</a:t>
                      </a:r>
                      <a:endParaRPr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6576" marR="36576" marT="36576" marB="36576">
                    <a:lnL w="6350" cmpd="sng">
                      <a:solidFill>
                        <a:srgbClr val="BFC7D3"/>
                      </a:solidFill>
                      <a:prstDash val="solid"/>
                    </a:lnL>
                    <a:lnR w="6350" cmpd="sng">
                      <a:solidFill>
                        <a:srgbClr val="BFC7D3"/>
                      </a:solidFill>
                      <a:prstDash val="solid"/>
                    </a:lnR>
                    <a:lnT w="6350" cmpd="sng">
                      <a:solidFill>
                        <a:srgbClr val="BFC7D3"/>
                      </a:solidFill>
                      <a:prstDash val="solid"/>
                    </a:lnT>
                    <a:lnB w="6350" cmpd="sng">
                      <a:solidFill>
                        <a:srgbClr val="BFC7D3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D2433"/>
                          </a:solidFill>
                          <a:latin typeface="Calibri"/>
                          <a:ea typeface="Calibri"/>
                          <a:cs typeface="Calibri"/>
                        </a:rPr>
                        <a:t>no empezó</a:t>
                      </a:r>
                      <a:endParaRPr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6576" marR="36576" marT="36576" marB="36576">
                    <a:lnL w="6350" cmpd="sng">
                      <a:solidFill>
                        <a:srgbClr val="BFC7D3"/>
                      </a:solidFill>
                      <a:prstDash val="solid"/>
                    </a:lnL>
                    <a:lnR w="6350" cmpd="sng">
                      <a:solidFill>
                        <a:srgbClr val="BFC7D3"/>
                      </a:solidFill>
                      <a:prstDash val="solid"/>
                    </a:lnR>
                    <a:lnT w="6350" cmpd="sng">
                      <a:solidFill>
                        <a:srgbClr val="BFC7D3"/>
                      </a:solidFill>
                      <a:prstDash val="solid"/>
                    </a:lnT>
                    <a:lnB w="6350" cmpd="sng">
                      <a:solidFill>
                        <a:srgbClr val="BFC7D3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</a:tr>
              <a:tr h="25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D2433"/>
                          </a:solidFill>
                          <a:latin typeface="Calibri"/>
                          <a:ea typeface="Calibri"/>
                          <a:cs typeface="Calibri"/>
                        </a:rPr>
                        <a:t>confirmada</a:t>
                      </a:r>
                      <a:endParaRPr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6576" marR="36576" marT="36576" marB="36576">
                    <a:lnL w="6350" cmpd="sng">
                      <a:solidFill>
                        <a:srgbClr val="BFC7D3"/>
                      </a:solidFill>
                      <a:prstDash val="solid"/>
                    </a:lnL>
                    <a:lnR w="6350" cmpd="sng">
                      <a:solidFill>
                        <a:srgbClr val="BFC7D3"/>
                      </a:solidFill>
                      <a:prstDash val="solid"/>
                    </a:lnR>
                    <a:lnT w="6350" cmpd="sng">
                      <a:solidFill>
                        <a:srgbClr val="BFC7D3"/>
                      </a:solidFill>
                      <a:prstDash val="solid"/>
                    </a:lnT>
                    <a:lnB w="6350" cmpd="sng">
                      <a:solidFill>
                        <a:srgbClr val="BFC7D3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D2433"/>
                          </a:solidFill>
                          <a:latin typeface="Calibri"/>
                          <a:ea typeface="Calibri"/>
                          <a:cs typeface="Calibri"/>
                        </a:rPr>
                        <a:t>cancelada</a:t>
                      </a:r>
                      <a:endParaRPr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6576" marR="36576" marT="36576" marB="36576">
                    <a:lnL w="6350" cmpd="sng">
                      <a:solidFill>
                        <a:srgbClr val="BFC7D3"/>
                      </a:solidFill>
                      <a:prstDash val="solid"/>
                    </a:lnL>
                    <a:lnR w="6350" cmpd="sng">
                      <a:solidFill>
                        <a:srgbClr val="BFC7D3"/>
                      </a:solidFill>
                      <a:prstDash val="solid"/>
                    </a:lnR>
                    <a:lnT w="6350" cmpd="sng">
                      <a:solidFill>
                        <a:srgbClr val="BFC7D3"/>
                      </a:solidFill>
                      <a:prstDash val="solid"/>
                    </a:lnT>
                    <a:lnB w="6350" cmpd="sng">
                      <a:solidFill>
                        <a:srgbClr val="BFC7D3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D2433"/>
                          </a:solidFill>
                          <a:latin typeface="Calibri"/>
                          <a:ea typeface="Calibri"/>
                          <a:cs typeface="Calibri"/>
                        </a:rPr>
                        <a:t>jugador/org.</a:t>
                      </a:r>
                      <a:endParaRPr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6576" marR="36576" marT="36576" marB="36576">
                    <a:lnL w="6350" cmpd="sng">
                      <a:solidFill>
                        <a:srgbClr val="BFC7D3"/>
                      </a:solidFill>
                      <a:prstDash val="solid"/>
                    </a:lnL>
                    <a:lnR w="6350" cmpd="sng">
                      <a:solidFill>
                        <a:srgbClr val="BFC7D3"/>
                      </a:solidFill>
                      <a:prstDash val="solid"/>
                    </a:lnR>
                    <a:lnT w="6350" cmpd="sng">
                      <a:solidFill>
                        <a:srgbClr val="BFC7D3"/>
                      </a:solidFill>
                      <a:prstDash val="solid"/>
                    </a:lnT>
                    <a:lnB w="6350" cmpd="sng">
                      <a:solidFill>
                        <a:srgbClr val="BFC7D3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D2433"/>
                          </a:solidFill>
                          <a:latin typeface="Calibri"/>
                          <a:ea typeface="Calibri"/>
                          <a:cs typeface="Calibri"/>
                        </a:rPr>
                        <a:t>faltan 24 h</a:t>
                      </a:r>
                      <a:endParaRPr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6576" marR="36576" marT="36576" marB="36576">
                    <a:lnL w="6350" cmpd="sng">
                      <a:solidFill>
                        <a:srgbClr val="BFC7D3"/>
                      </a:solidFill>
                      <a:prstDash val="solid"/>
                    </a:lnL>
                    <a:lnR w="6350" cmpd="sng">
                      <a:solidFill>
                        <a:srgbClr val="BFC7D3"/>
                      </a:solidFill>
                      <a:prstDash val="solid"/>
                    </a:lnR>
                    <a:lnT w="6350" cmpd="sng">
                      <a:solidFill>
                        <a:srgbClr val="BFC7D3"/>
                      </a:solidFill>
                      <a:prstDash val="solid"/>
                    </a:lnT>
                    <a:lnB w="6350" cmpd="sng">
                      <a:solidFill>
                        <a:srgbClr val="BFC7D3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4CDD4E54-D251-4FDF-8CB7-66D49357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000" y="3560000"/>
            <a:ext cx="3560000" cy="8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C5221F"/>
            </a:solidFill>
            <a:prstDash val="solid"/>
          </a:ln>
        </p:spPr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40E31F49-3F35-4089-912F-C2D79CA2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0000" y="3610000"/>
            <a:ext cx="3380000" cy="7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C5221F"/>
                </a:solidFill>
                <a:latin typeface="Calibri"/>
                <a:ea typeface="Calibri"/>
                <a:cs typeface="Calibri"/>
              </a:rPr>
              <a:t>Transición prohibida</a:t>
            </a:r>
            <a:endParaRPr sz="1050"/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D2433"/>
                </a:solidFill>
                <a:latin typeface="Calibri"/>
                <a:ea typeface="Calibri"/>
                <a:cs typeface="Calibri"/>
              </a:rPr>
              <a:t>De cancelada no se vuelve a confirmada: el cupo pudo ser tomado por otro jugador. Se crea una inscripción nueva.</a:t>
            </a:r>
            <a:endParaRPr sz="1050"/>
          </a:p>
        </p:txBody>
      </p:sp>
      <p:sp>
        <p:nvSpPr>
          <p:cNvPr id="32" name="Shape 19">
            <a:extLst xmlns:a="http://schemas.openxmlformats.org/drawingml/2006/main">
              <a:ext uri="{FF2B5EF4-FFF2-40B4-BE49-F238E27FC236}">
                <a16:creationId xmlns:a16="http://schemas.microsoft.com/office/drawing/2014/main" id="{F1C273DE-D88A-4C80-8C0E-19050E39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3040"/>
            <a:ext cx="1691640" cy="420000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E8EEF6"/>
          </a:solidFill>
          <a:ln xmlns:a="http://schemas.openxmlformats.org/drawingml/2006/main" w="12700">
            <a:solidFill>
              <a:srgbClr val="1A3D6D"/>
            </a:solidFill>
            <a:prstDash val="solid"/>
          </a:ln>
        </p:spPr>
      </p:sp>
      <p:sp>
        <p:nvSpPr>
          <p:cNvPr id="33" name="Text 20">
            <a:extLst xmlns:a="http://schemas.openxmlformats.org/drawingml/2006/main">
              <a:ext uri="{FF2B5EF4-FFF2-40B4-BE49-F238E27FC236}">
                <a16:creationId xmlns:a16="http://schemas.microsoft.com/office/drawing/2014/main" id="{94E23FF4-2757-4986-B23B-62DB6BDC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3040"/>
            <a:ext cx="1691640" cy="4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D2433"/>
                </a:solidFill>
                <a:latin typeface="Calibri"/>
                <a:ea typeface="Calibri"/>
                <a:cs typeface="Calibri"/>
              </a:rPr>
              <a:t>cancelada</a:t>
            </a:r>
            <a:endParaRPr sz="1250"/>
          </a:p>
        </p:txBody>
      </p:sp>
      <p:sp>
        <p:nvSpPr>
          <p:cNvPr id="34" name="Shape 17">
            <a:extLst xmlns:a="http://schemas.openxmlformats.org/drawingml/2006/main">
              <a:ext uri="{FF2B5EF4-FFF2-40B4-BE49-F238E27FC236}">
                <a16:creationId xmlns:a16="http://schemas.microsoft.com/office/drawing/2014/main" id="{B696333E-17A6-4CA0-8A5C-56B988A5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" y="3383040"/>
            <a:ext cx="0" cy="33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A3D6D"/>
            </a:solidFill>
            <a:prstDash val="solid"/>
            <a:tailEnd type="triangle"/>
          </a:ln>
        </p:spPr>
      </p:sp>
      <p:sp>
        <p:nvSpPr>
          <p:cNvPr id="35" name="Text 18">
            <a:extLst xmlns:a="http://schemas.openxmlformats.org/drawingml/2006/main">
              <a:ext uri="{FF2B5EF4-FFF2-40B4-BE49-F238E27FC236}">
                <a16:creationId xmlns:a16="http://schemas.microsoft.com/office/drawing/2014/main" id="{F06109C1-84E6-4CCF-882C-1E8C5A96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" y="3410880"/>
            <a:ext cx="822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B6B80"/>
                </a:solidFill>
                <a:latin typeface="Calibri"/>
                <a:ea typeface="Calibri"/>
                <a:cs typeface="Calibri"/>
              </a:rPr>
              <a:t>jugador u org.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892467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E26C0FC-D11E-456B-9DD2-2F21840C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92608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3D6D"/>
          </a:solidFill>
          <a:ln xmlns:a="http://schemas.openxmlformats.org/drawingml/2006/main" w="12700">
            <a:solidFill>
              <a:srgbClr val="1A3D6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A5C4304-106D-43F6-9394-92935483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92608"/>
            <a:ext cx="47548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sz="2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2B6E633-F114-40BC-B487-B30BB7F7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37744"/>
            <a:ext cx="49377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A3D6D"/>
                </a:solidFill>
                <a:latin typeface="Calibri"/>
                <a:ea typeface="Calibri"/>
                <a:cs typeface="Calibri"/>
              </a:rPr>
              <a:t>API y pantallas</a:t>
            </a:r>
            <a:endParaRPr sz="26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8BC1252-4C56-4CF0-A1CC-D87F9DDC5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658368"/>
            <a:ext cx="49377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B6B80"/>
                </a:solidFill>
                <a:latin typeface="Calibri"/>
                <a:ea typeface="Calibri"/>
                <a:cs typeface="Calibri"/>
              </a:rPr>
              <a:t>Ficha, secciones 6 y 7 · lo demás va en el addendum</a:t>
            </a:r>
            <a:endParaRPr sz="11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3EE2454-EC7C-4AE2-B167-262C60E74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274320"/>
            <a:ext cx="3108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5B6B80"/>
                </a:solidFill>
                <a:latin typeface="Calibri"/>
                <a:ea typeface="Calibri"/>
                <a:cs typeface="Calibri"/>
              </a:rPr>
              <a:t>Grupo E · Mendoza · Quijije</a:t>
            </a:r>
            <a:endParaRPr sz="11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2E8FF39-4C22-4F20-8356-5D91F888E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097280"/>
            <a:ext cx="2606040" cy="3337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C"/>
          </a:solidFill>
          <a:ln xmlns:a="http://schemas.openxmlformats.org/drawingml/2006/main" w="12700">
            <a:solidFill>
              <a:srgbClr val="E8C77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75CA2E0-E854-45E5-BFB1-73EB847F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216152"/>
            <a:ext cx="2286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A3D6D"/>
                </a:solidFill>
                <a:latin typeface="Calibri"/>
                <a:ea typeface="Calibri"/>
                <a:cs typeface="Calibri"/>
              </a:rPr>
              <a:t>Cumplimiento</a:t>
            </a:r>
            <a:endParaRPr sz="1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3B1EE15-8E56-4128-BE0B-B02991E6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572768"/>
            <a:ext cx="228600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50">
                <a:solidFill>
                  <a:srgbClr val="1D2433"/>
                </a:solidFill>
                <a:latin typeface="Calibri"/>
                <a:ea typeface="Calibri"/>
                <a:cs typeface="Calibri"/>
              </a:rPr>
              <a:t>☑  Cuatro a seis endpoints, con verbo y ruta</a:t>
            </a:r>
            <a:endParaRPr sz="1150"/>
          </a:p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50">
                <a:solidFill>
                  <a:srgbClr val="1D2433"/>
                </a:solidFill>
                <a:latin typeface="Calibri"/>
                <a:ea typeface="Calibri"/>
                <a:cs typeface="Calibri"/>
              </a:rPr>
              <a:t>☑  El rol que llama a cada uno</a:t>
            </a:r>
            <a:endParaRPr sz="1150"/>
          </a:p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50">
                <a:solidFill>
                  <a:srgbClr val="1D2433"/>
                </a:solidFill>
                <a:latin typeface="Calibri"/>
                <a:ea typeface="Calibri"/>
                <a:cs typeface="Calibri"/>
              </a:rPr>
              <a:t>☑  La pantalla que lo consume</a:t>
            </a:r>
            <a:endParaRPr sz="1150"/>
          </a:p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50">
                <a:solidFill>
                  <a:srgbClr val="1D2433"/>
                </a:solidFill>
                <a:latin typeface="Calibri"/>
                <a:ea typeface="Calibri"/>
                <a:cs typeface="Calibri"/>
              </a:rPr>
              <a:t>☑  Código cuando sale bien y cuando falla</a:t>
            </a:r>
            <a:endParaRPr sz="1150"/>
          </a:p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50">
                <a:solidFill>
                  <a:srgbClr val="1D2433"/>
                </a:solidFill>
                <a:latin typeface="Calibri"/>
                <a:ea typeface="Calibri"/>
                <a:cs typeface="Calibri"/>
              </a:rPr>
              <a:t>☑  Captura de una respuesta real con su código</a:t>
            </a:r>
            <a:endParaRPr sz="1150"/>
          </a:p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150">
                <a:solidFill>
                  <a:srgbClr val="1D2433"/>
                </a:solidFill>
                <a:latin typeface="Calibri"/>
                <a:ea typeface="Calibri"/>
                <a:cs typeface="Calibri"/>
              </a:rPr>
              <a:t>☑  Enlace a la sección 7 de la ficha y al addendum</a:t>
            </a:r>
            <a:endParaRPr sz="11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22D2929-E8FD-4475-83D7-F7F0D8A6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572000"/>
            <a:ext cx="84124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C7D3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7BD7CF0-99A2-4F4D-9849-BBAB2833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645152"/>
            <a:ext cx="8412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A3D6D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84ececa7ea22497a"/>
              </a:rPr>
              <a:t>Ficha · sección 7</a:t>
            </a:r>
            <a:r>
              <a:rPr sz="900" b="1">
                <a:solidFill>
                  <a:srgbClr val="1A3D6D"/>
                </a:solidFill>
                <a:latin typeface="Calibri"/>
                <a:ea typeface="Calibri"/>
                <a:cs typeface="Calibri"/>
              </a:rPr>
              <a:t>   ·   </a:t>
            </a:r>
            <a:r>
              <a:rPr sz="900" b="1">
                <a:solidFill>
                  <a:srgbClr val="1A3D6D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f342f223d7f94f96"/>
              </a:rPr>
              <a:t>Addendum técnico</a:t>
            </a:r>
            <a:endParaRPr sz="850"/>
          </a:p>
        </p:txBody>
      </p:sp>
      <p:graphicFrame>
        <p:nvGraphicFramePr>
          <p:cNvPr id="30" name="Table 0"/>
          <p:cNvGraphicFramePr/>
          <p:nvPr/>
        </p:nvGraphicFramePr>
        <p:xfrm>
          <a:off xmlns:a="http://schemas.openxmlformats.org/drawingml/2006/main" x="365760" y="1097280"/>
          <a:ext xmlns:a="http://schemas.openxmlformats.org/drawingml/2006/main" cx="5577840" cy="1834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50000"/>
                <a:gridCol w="1000000"/>
                <a:gridCol w="1500000"/>
                <a:gridCol w="450000"/>
                <a:gridCol w="477840"/>
              </a:tblGrid>
              <a:tr h="262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Endpoint</a:t>
                      </a:r>
                      <a:endParaRPr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6576" marR="36576" marT="36576" marB="36576">
                    <a:lnL w="6350" cmpd="sng">
                      <a:solidFill>
                        <a:srgbClr val="BFC7D3"/>
                      </a:solidFill>
                      <a:prstDash val="solid"/>
                    </a:lnL>
                    <a:lnR w="6350" cmpd="sng">
                      <a:solidFill>
                        <a:srgbClr val="BFC7D3"/>
                      </a:solidFill>
                      <a:prstDash val="solid"/>
                    </a:lnR>
                    <a:lnT w="6350" cmpd="sng">
                      <a:solidFill>
                        <a:srgbClr val="BFC7D3"/>
                      </a:solidFill>
                      <a:prstDash val="solid"/>
                    </a:lnT>
                    <a:lnB w="6350" cmpd="sng">
                      <a:solidFill>
                        <a:srgbClr val="BFC7D3"/>
                      </a:solidFill>
                      <a:prstDash val="solid"/>
                    </a:lnB>
                    <a:solidFill>
                      <a:srgbClr val="1A3D6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Rol</a:t>
                      </a:r>
                      <a:endParaRPr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6576" marR="36576" marT="36576" marB="36576">
                    <a:lnL w="6350" cmpd="sng">
                      <a:solidFill>
                        <a:srgbClr val="BFC7D3"/>
                      </a:solidFill>
                      <a:prstDash val="solid"/>
                    </a:lnL>
                    <a:lnR w="6350" cmpd="sng">
                      <a:solidFill>
                        <a:srgbClr val="BFC7D3"/>
                      </a:solidFill>
                      <a:prstDash val="solid"/>
                    </a:lnR>
                    <a:lnT w="6350" cmpd="sng">
                      <a:solidFill>
                        <a:srgbClr val="BFC7D3"/>
                      </a:solidFill>
                      <a:prstDash val="solid"/>
                    </a:lnT>
                    <a:lnB w="6350" cmpd="sng">
                      <a:solidFill>
                        <a:srgbClr val="BFC7D3"/>
                      </a:solidFill>
                      <a:prstDash val="solid"/>
                    </a:lnB>
                    <a:solidFill>
                      <a:srgbClr val="1A3D6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Pantalla que lo consume</a:t>
                      </a:r>
                      <a:endParaRPr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6576" marR="36576" marT="36576" marB="36576">
                    <a:lnL w="6350" cmpd="sng">
                      <a:solidFill>
                        <a:srgbClr val="BFC7D3"/>
                      </a:solidFill>
                      <a:prstDash val="solid"/>
                    </a:lnL>
                    <a:lnR w="6350" cmpd="sng">
                      <a:solidFill>
                        <a:srgbClr val="BFC7D3"/>
                      </a:solidFill>
                      <a:prstDash val="solid"/>
                    </a:lnR>
                    <a:lnT w="6350" cmpd="sng">
                      <a:solidFill>
                        <a:srgbClr val="BFC7D3"/>
                      </a:solidFill>
                      <a:prstDash val="solid"/>
                    </a:lnT>
                    <a:lnB w="6350" cmpd="sng">
                      <a:solidFill>
                        <a:srgbClr val="BFC7D3"/>
                      </a:solidFill>
                      <a:prstDash val="solid"/>
                    </a:lnB>
                    <a:solidFill>
                      <a:srgbClr val="1A3D6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OK</a:t>
                      </a:r>
                      <a:endParaRPr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6576" marR="36576" marT="36576" marB="36576">
                    <a:lnL w="6350" cmpd="sng">
                      <a:solidFill>
                        <a:srgbClr val="BFC7D3"/>
                      </a:solidFill>
                      <a:prstDash val="solid"/>
                    </a:lnL>
                    <a:lnR w="6350" cmpd="sng">
                      <a:solidFill>
                        <a:srgbClr val="BFC7D3"/>
                      </a:solidFill>
                      <a:prstDash val="solid"/>
                    </a:lnR>
                    <a:lnT w="6350" cmpd="sng">
                      <a:solidFill>
                        <a:srgbClr val="BFC7D3"/>
                      </a:solidFill>
                      <a:prstDash val="solid"/>
                    </a:lnT>
                    <a:lnB w="6350" cmpd="sng">
                      <a:solidFill>
                        <a:srgbClr val="BFC7D3"/>
                      </a:solidFill>
                      <a:prstDash val="solid"/>
                    </a:lnB>
                    <a:solidFill>
                      <a:srgbClr val="1A3D6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Error</a:t>
                      </a:r>
                      <a:endParaRPr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6576" marR="36576" marT="36576" marB="36576">
                    <a:lnL w="6350" cmpd="sng">
                      <a:solidFill>
                        <a:srgbClr val="BFC7D3"/>
                      </a:solidFill>
                      <a:prstDash val="solid"/>
                    </a:lnL>
                    <a:lnR w="6350" cmpd="sng">
                      <a:solidFill>
                        <a:srgbClr val="BFC7D3"/>
                      </a:solidFill>
                      <a:prstDash val="solid"/>
                    </a:lnR>
                    <a:lnT w="6350" cmpd="sng">
                      <a:solidFill>
                        <a:srgbClr val="BFC7D3"/>
                      </a:solidFill>
                      <a:prstDash val="solid"/>
                    </a:lnT>
                    <a:lnB w="6350" cmpd="sng">
                      <a:solidFill>
                        <a:srgbClr val="BFC7D3"/>
                      </a:solidFill>
                      <a:prstDash val="solid"/>
                    </a:lnB>
                    <a:solidFill>
                      <a:srgbClr val="1A3D6D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D2433"/>
                          </a:solidFill>
                          <a:latin typeface="Calibri"/>
                          <a:ea typeface="Calibri"/>
                          <a:cs typeface="Calibri"/>
                        </a:rPr>
                        <a:t>GET /eventos</a:t>
                      </a:r>
                      <a:endParaRPr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6576" marR="36576" marT="36576" marB="36576">
                    <a:lnL w="6350" cmpd="sng">
                      <a:solidFill>
                        <a:srgbClr val="BFC7D3"/>
                      </a:solidFill>
                      <a:prstDash val="solid"/>
                    </a:lnL>
                    <a:lnR w="6350" cmpd="sng">
                      <a:solidFill>
                        <a:srgbClr val="BFC7D3"/>
                      </a:solidFill>
                      <a:prstDash val="solid"/>
                    </a:lnR>
                    <a:lnT w="6350" cmpd="sng">
                      <a:solidFill>
                        <a:srgbClr val="BFC7D3"/>
                      </a:solidFill>
                      <a:prstDash val="solid"/>
                    </a:lnT>
                    <a:lnB w="6350" cmpd="sng">
                      <a:solidFill>
                        <a:srgbClr val="BFC7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D2433"/>
                          </a:solidFill>
                          <a:latin typeface="Calibri"/>
                          <a:ea typeface="Calibri"/>
                          <a:cs typeface="Calibri"/>
                        </a:rPr>
                        <a:t>ambos</a:t>
                      </a:r>
                      <a:endParaRPr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6576" marR="36576" marT="36576" marB="36576">
                    <a:lnL w="6350" cmpd="sng">
                      <a:solidFill>
                        <a:srgbClr val="BFC7D3"/>
                      </a:solidFill>
                      <a:prstDash val="solid"/>
                    </a:lnL>
                    <a:lnR w="6350" cmpd="sng">
                      <a:solidFill>
                        <a:srgbClr val="BFC7D3"/>
                      </a:solidFill>
                      <a:prstDash val="solid"/>
                    </a:lnR>
                    <a:lnT w="6350" cmpd="sng">
                      <a:solidFill>
                        <a:srgbClr val="BFC7D3"/>
                      </a:solidFill>
                      <a:prstDash val="solid"/>
                    </a:lnT>
                    <a:lnB w="6350" cmpd="sng">
                      <a:solidFill>
                        <a:srgbClr val="BFC7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D2433"/>
                          </a:solidFill>
                          <a:latin typeface="Calibri"/>
                          <a:ea typeface="Calibri"/>
                          <a:cs typeface="Calibri"/>
                        </a:rPr>
                        <a:t>Explorar eventos</a:t>
                      </a:r>
                      <a:endParaRPr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6576" marR="36576" marT="36576" marB="36576">
                    <a:lnL w="6350" cmpd="sng">
                      <a:solidFill>
                        <a:srgbClr val="BFC7D3"/>
                      </a:solidFill>
                      <a:prstDash val="solid"/>
                    </a:lnL>
                    <a:lnR w="6350" cmpd="sng">
                      <a:solidFill>
                        <a:srgbClr val="BFC7D3"/>
                      </a:solidFill>
                      <a:prstDash val="solid"/>
                    </a:lnR>
                    <a:lnT w="6350" cmpd="sng">
                      <a:solidFill>
                        <a:srgbClr val="BFC7D3"/>
                      </a:solidFill>
                      <a:prstDash val="solid"/>
                    </a:lnT>
                    <a:lnB w="6350" cmpd="sng">
                      <a:solidFill>
                        <a:srgbClr val="BFC7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D2433"/>
                          </a:solidFill>
                          <a:latin typeface="Calibri"/>
                          <a:ea typeface="Calibri"/>
                          <a:cs typeface="Calibri"/>
                        </a:rPr>
                        <a:t>200</a:t>
                      </a:r>
                      <a:endParaRPr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6576" marR="36576" marT="36576" marB="36576">
                    <a:lnL w="6350" cmpd="sng">
                      <a:solidFill>
                        <a:srgbClr val="BFC7D3"/>
                      </a:solidFill>
                      <a:prstDash val="solid"/>
                    </a:lnL>
                    <a:lnR w="6350" cmpd="sng">
                      <a:solidFill>
                        <a:srgbClr val="BFC7D3"/>
                      </a:solidFill>
                      <a:prstDash val="solid"/>
                    </a:lnR>
                    <a:lnT w="6350" cmpd="sng">
                      <a:solidFill>
                        <a:srgbClr val="BFC7D3"/>
                      </a:solidFill>
                      <a:prstDash val="solid"/>
                    </a:lnT>
                    <a:lnB w="6350" cmpd="sng">
                      <a:solidFill>
                        <a:srgbClr val="BFC7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D2433"/>
                          </a:solidFill>
                          <a:latin typeface="Calibri"/>
                          <a:ea typeface="Calibri"/>
                          <a:cs typeface="Calibri"/>
                        </a:rPr>
                        <a:t>422</a:t>
                      </a:r>
                      <a:endParaRPr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6576" marR="36576" marT="36576" marB="36576">
                    <a:lnL w="6350" cmpd="sng">
                      <a:solidFill>
                        <a:srgbClr val="BFC7D3"/>
                      </a:solidFill>
                      <a:prstDash val="solid"/>
                    </a:lnL>
                    <a:lnR w="6350" cmpd="sng">
                      <a:solidFill>
                        <a:srgbClr val="BFC7D3"/>
                      </a:solidFill>
                      <a:prstDash val="solid"/>
                    </a:lnR>
                    <a:lnT w="6350" cmpd="sng">
                      <a:solidFill>
                        <a:srgbClr val="BFC7D3"/>
                      </a:solidFill>
                      <a:prstDash val="solid"/>
                    </a:lnT>
                    <a:lnB w="6350" cmpd="sng">
                      <a:solidFill>
                        <a:srgbClr val="BFC7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D2433"/>
                          </a:solidFill>
                          <a:latin typeface="Calibri"/>
                          <a:ea typeface="Calibri"/>
                          <a:cs typeface="Calibri"/>
                        </a:rPr>
                        <a:t>POST /eventos</a:t>
                      </a:r>
                      <a:endParaRPr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6576" marR="36576" marT="36576" marB="36576">
                    <a:lnL w="6350" cmpd="sng">
                      <a:solidFill>
                        <a:srgbClr val="BFC7D3"/>
                      </a:solidFill>
                      <a:prstDash val="solid"/>
                    </a:lnL>
                    <a:lnR w="6350" cmpd="sng">
                      <a:solidFill>
                        <a:srgbClr val="BFC7D3"/>
                      </a:solidFill>
                      <a:prstDash val="solid"/>
                    </a:lnR>
                    <a:lnT w="6350" cmpd="sng">
                      <a:solidFill>
                        <a:srgbClr val="BFC7D3"/>
                      </a:solidFill>
                      <a:prstDash val="solid"/>
                    </a:lnT>
                    <a:lnB w="6350" cmpd="sng">
                      <a:solidFill>
                        <a:srgbClr val="BFC7D3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D2433"/>
                          </a:solidFill>
                          <a:latin typeface="Calibri"/>
                          <a:ea typeface="Calibri"/>
                          <a:cs typeface="Calibri"/>
                        </a:rPr>
                        <a:t>organizador</a:t>
                      </a:r>
                      <a:endParaRPr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6576" marR="36576" marT="36576" marB="36576">
                    <a:lnL w="6350" cmpd="sng">
                      <a:solidFill>
                        <a:srgbClr val="BFC7D3"/>
                      </a:solidFill>
                      <a:prstDash val="solid"/>
                    </a:lnL>
                    <a:lnR w="6350" cmpd="sng">
                      <a:solidFill>
                        <a:srgbClr val="BFC7D3"/>
                      </a:solidFill>
                      <a:prstDash val="solid"/>
                    </a:lnR>
                    <a:lnT w="6350" cmpd="sng">
                      <a:solidFill>
                        <a:srgbClr val="BFC7D3"/>
                      </a:solidFill>
                      <a:prstDash val="solid"/>
                    </a:lnT>
                    <a:lnB w="6350" cmpd="sng">
                      <a:solidFill>
                        <a:srgbClr val="BFC7D3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D2433"/>
                          </a:solidFill>
                          <a:latin typeface="Calibri"/>
                          <a:ea typeface="Calibri"/>
                          <a:cs typeface="Calibri"/>
                        </a:rPr>
                        <a:t>Publicar evento</a:t>
                      </a:r>
                      <a:endParaRPr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6576" marR="36576" marT="36576" marB="36576">
                    <a:lnL w="6350" cmpd="sng">
                      <a:solidFill>
                        <a:srgbClr val="BFC7D3"/>
                      </a:solidFill>
                      <a:prstDash val="solid"/>
                    </a:lnL>
                    <a:lnR w="6350" cmpd="sng">
                      <a:solidFill>
                        <a:srgbClr val="BFC7D3"/>
                      </a:solidFill>
                      <a:prstDash val="solid"/>
                    </a:lnR>
                    <a:lnT w="6350" cmpd="sng">
                      <a:solidFill>
                        <a:srgbClr val="BFC7D3"/>
                      </a:solidFill>
                      <a:prstDash val="solid"/>
                    </a:lnT>
                    <a:lnB w="6350" cmpd="sng">
                      <a:solidFill>
                        <a:srgbClr val="BFC7D3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D2433"/>
                          </a:solidFill>
                          <a:latin typeface="Calibri"/>
                          <a:ea typeface="Calibri"/>
                          <a:cs typeface="Calibri"/>
                        </a:rPr>
                        <a:t>201</a:t>
                      </a:r>
                      <a:endParaRPr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6576" marR="36576" marT="36576" marB="36576">
                    <a:lnL w="6350" cmpd="sng">
                      <a:solidFill>
                        <a:srgbClr val="BFC7D3"/>
                      </a:solidFill>
                      <a:prstDash val="solid"/>
                    </a:lnL>
                    <a:lnR w="6350" cmpd="sng">
                      <a:solidFill>
                        <a:srgbClr val="BFC7D3"/>
                      </a:solidFill>
                      <a:prstDash val="solid"/>
                    </a:lnR>
                    <a:lnT w="6350" cmpd="sng">
                      <a:solidFill>
                        <a:srgbClr val="BFC7D3"/>
                      </a:solidFill>
                      <a:prstDash val="solid"/>
                    </a:lnT>
                    <a:lnB w="6350" cmpd="sng">
                      <a:solidFill>
                        <a:srgbClr val="BFC7D3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D2433"/>
                          </a:solidFill>
                          <a:latin typeface="Calibri"/>
                          <a:ea typeface="Calibri"/>
                          <a:cs typeface="Calibri"/>
                        </a:rPr>
                        <a:t>422</a:t>
                      </a:r>
                      <a:endParaRPr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6576" marR="36576" marT="36576" marB="36576">
                    <a:lnL w="6350" cmpd="sng">
                      <a:solidFill>
                        <a:srgbClr val="BFC7D3"/>
                      </a:solidFill>
                      <a:prstDash val="solid"/>
                    </a:lnL>
                    <a:lnR w="6350" cmpd="sng">
                      <a:solidFill>
                        <a:srgbClr val="BFC7D3"/>
                      </a:solidFill>
                      <a:prstDash val="solid"/>
                    </a:lnR>
                    <a:lnT w="6350" cmpd="sng">
                      <a:solidFill>
                        <a:srgbClr val="BFC7D3"/>
                      </a:solidFill>
                      <a:prstDash val="solid"/>
                    </a:lnT>
                    <a:lnB w="6350" cmpd="sng">
                      <a:solidFill>
                        <a:srgbClr val="BFC7D3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D2433"/>
                          </a:solidFill>
                          <a:latin typeface="Calibri"/>
                          <a:ea typeface="Calibri"/>
                          <a:cs typeface="Calibri"/>
                        </a:rPr>
                        <a:t>GET /eventos/{id}</a:t>
                      </a:r>
                      <a:endParaRPr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6576" marR="36576" marT="36576" marB="36576">
                    <a:lnL w="6350" cmpd="sng">
                      <a:solidFill>
                        <a:srgbClr val="BFC7D3"/>
                      </a:solidFill>
                      <a:prstDash val="solid"/>
                    </a:lnL>
                    <a:lnR w="6350" cmpd="sng">
                      <a:solidFill>
                        <a:srgbClr val="BFC7D3"/>
                      </a:solidFill>
                      <a:prstDash val="solid"/>
                    </a:lnR>
                    <a:lnT w="6350" cmpd="sng">
                      <a:solidFill>
                        <a:srgbClr val="BFC7D3"/>
                      </a:solidFill>
                      <a:prstDash val="solid"/>
                    </a:lnT>
                    <a:lnB w="6350" cmpd="sng">
                      <a:solidFill>
                        <a:srgbClr val="BFC7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D2433"/>
                          </a:solidFill>
                          <a:latin typeface="Calibri"/>
                          <a:ea typeface="Calibri"/>
                          <a:cs typeface="Calibri"/>
                        </a:rPr>
                        <a:t>ambos</a:t>
                      </a:r>
                      <a:endParaRPr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6576" marR="36576" marT="36576" marB="36576">
                    <a:lnL w="6350" cmpd="sng">
                      <a:solidFill>
                        <a:srgbClr val="BFC7D3"/>
                      </a:solidFill>
                      <a:prstDash val="solid"/>
                    </a:lnL>
                    <a:lnR w="6350" cmpd="sng">
                      <a:solidFill>
                        <a:srgbClr val="BFC7D3"/>
                      </a:solidFill>
                      <a:prstDash val="solid"/>
                    </a:lnR>
                    <a:lnT w="6350" cmpd="sng">
                      <a:solidFill>
                        <a:srgbClr val="BFC7D3"/>
                      </a:solidFill>
                      <a:prstDash val="solid"/>
                    </a:lnT>
                    <a:lnB w="6350" cmpd="sng">
                      <a:solidFill>
                        <a:srgbClr val="BFC7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D2433"/>
                          </a:solidFill>
                          <a:latin typeface="Calibri"/>
                          <a:ea typeface="Calibri"/>
                          <a:cs typeface="Calibri"/>
                        </a:rPr>
                        <a:t>Detalle del evento</a:t>
                      </a:r>
                      <a:endParaRPr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6576" marR="36576" marT="36576" marB="36576">
                    <a:lnL w="6350" cmpd="sng">
                      <a:solidFill>
                        <a:srgbClr val="BFC7D3"/>
                      </a:solidFill>
                      <a:prstDash val="solid"/>
                    </a:lnL>
                    <a:lnR w="6350" cmpd="sng">
                      <a:solidFill>
                        <a:srgbClr val="BFC7D3"/>
                      </a:solidFill>
                      <a:prstDash val="solid"/>
                    </a:lnR>
                    <a:lnT w="6350" cmpd="sng">
                      <a:solidFill>
                        <a:srgbClr val="BFC7D3"/>
                      </a:solidFill>
                      <a:prstDash val="solid"/>
                    </a:lnT>
                    <a:lnB w="6350" cmpd="sng">
                      <a:solidFill>
                        <a:srgbClr val="BFC7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D2433"/>
                          </a:solidFill>
                          <a:latin typeface="Calibri"/>
                          <a:ea typeface="Calibri"/>
                          <a:cs typeface="Calibri"/>
                        </a:rPr>
                        <a:t>200</a:t>
                      </a:r>
                      <a:endParaRPr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6576" marR="36576" marT="36576" marB="36576">
                    <a:lnL w="6350" cmpd="sng">
                      <a:solidFill>
                        <a:srgbClr val="BFC7D3"/>
                      </a:solidFill>
                      <a:prstDash val="solid"/>
                    </a:lnL>
                    <a:lnR w="6350" cmpd="sng">
                      <a:solidFill>
                        <a:srgbClr val="BFC7D3"/>
                      </a:solidFill>
                      <a:prstDash val="solid"/>
                    </a:lnR>
                    <a:lnT w="6350" cmpd="sng">
                      <a:solidFill>
                        <a:srgbClr val="BFC7D3"/>
                      </a:solidFill>
                      <a:prstDash val="solid"/>
                    </a:lnT>
                    <a:lnB w="6350" cmpd="sng">
                      <a:solidFill>
                        <a:srgbClr val="BFC7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D2433"/>
                          </a:solidFill>
                          <a:latin typeface="Calibri"/>
                          <a:ea typeface="Calibri"/>
                          <a:cs typeface="Calibri"/>
                        </a:rPr>
                        <a:t>404</a:t>
                      </a:r>
                      <a:endParaRPr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6576" marR="36576" marT="36576" marB="36576">
                    <a:lnL w="6350" cmpd="sng">
                      <a:solidFill>
                        <a:srgbClr val="BFC7D3"/>
                      </a:solidFill>
                      <a:prstDash val="solid"/>
                    </a:lnL>
                    <a:lnR w="6350" cmpd="sng">
                      <a:solidFill>
                        <a:srgbClr val="BFC7D3"/>
                      </a:solidFill>
                      <a:prstDash val="solid"/>
                    </a:lnR>
                    <a:lnT w="6350" cmpd="sng">
                      <a:solidFill>
                        <a:srgbClr val="BFC7D3"/>
                      </a:solidFill>
                      <a:prstDash val="solid"/>
                    </a:lnT>
                    <a:lnB w="6350" cmpd="sng">
                      <a:solidFill>
                        <a:srgbClr val="BFC7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D2433"/>
                          </a:solidFill>
                          <a:latin typeface="Calibri"/>
                          <a:ea typeface="Calibri"/>
                          <a:cs typeface="Calibri"/>
                        </a:rPr>
                        <a:t>POST /eventos/{id}/inscripciones</a:t>
                      </a:r>
                      <a:endParaRPr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6576" marR="36576" marT="36576" marB="36576">
                    <a:lnL w="6350" cmpd="sng">
                      <a:solidFill>
                        <a:srgbClr val="BFC7D3"/>
                      </a:solidFill>
                      <a:prstDash val="solid"/>
                    </a:lnL>
                    <a:lnR w="6350" cmpd="sng">
                      <a:solidFill>
                        <a:srgbClr val="BFC7D3"/>
                      </a:solidFill>
                      <a:prstDash val="solid"/>
                    </a:lnR>
                    <a:lnT w="6350" cmpd="sng">
                      <a:solidFill>
                        <a:srgbClr val="BFC7D3"/>
                      </a:solidFill>
                      <a:prstDash val="solid"/>
                    </a:lnT>
                    <a:lnB w="6350" cmpd="sng">
                      <a:solidFill>
                        <a:srgbClr val="BFC7D3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D2433"/>
                          </a:solidFill>
                          <a:latin typeface="Calibri"/>
                          <a:ea typeface="Calibri"/>
                          <a:cs typeface="Calibri"/>
                        </a:rPr>
                        <a:t>jugador</a:t>
                      </a:r>
                      <a:endParaRPr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6576" marR="36576" marT="36576" marB="36576">
                    <a:lnL w="6350" cmpd="sng">
                      <a:solidFill>
                        <a:srgbClr val="BFC7D3"/>
                      </a:solidFill>
                      <a:prstDash val="solid"/>
                    </a:lnL>
                    <a:lnR w="6350" cmpd="sng">
                      <a:solidFill>
                        <a:srgbClr val="BFC7D3"/>
                      </a:solidFill>
                      <a:prstDash val="solid"/>
                    </a:lnR>
                    <a:lnT w="6350" cmpd="sng">
                      <a:solidFill>
                        <a:srgbClr val="BFC7D3"/>
                      </a:solidFill>
                      <a:prstDash val="solid"/>
                    </a:lnT>
                    <a:lnB w="6350" cmpd="sng">
                      <a:solidFill>
                        <a:srgbClr val="BFC7D3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D2433"/>
                          </a:solidFill>
                          <a:latin typeface="Calibri"/>
                          <a:ea typeface="Calibri"/>
                          <a:cs typeface="Calibri"/>
                        </a:rPr>
                        <a:t>Detalle del evento</a:t>
                      </a:r>
                      <a:endParaRPr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6576" marR="36576" marT="36576" marB="36576">
                    <a:lnL w="6350" cmpd="sng">
                      <a:solidFill>
                        <a:srgbClr val="BFC7D3"/>
                      </a:solidFill>
                      <a:prstDash val="solid"/>
                    </a:lnL>
                    <a:lnR w="6350" cmpd="sng">
                      <a:solidFill>
                        <a:srgbClr val="BFC7D3"/>
                      </a:solidFill>
                      <a:prstDash val="solid"/>
                    </a:lnR>
                    <a:lnT w="6350" cmpd="sng">
                      <a:solidFill>
                        <a:srgbClr val="BFC7D3"/>
                      </a:solidFill>
                      <a:prstDash val="solid"/>
                    </a:lnT>
                    <a:lnB w="6350" cmpd="sng">
                      <a:solidFill>
                        <a:srgbClr val="BFC7D3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D2433"/>
                          </a:solidFill>
                          <a:latin typeface="Calibri"/>
                          <a:ea typeface="Calibri"/>
                          <a:cs typeface="Calibri"/>
                        </a:rPr>
                        <a:t>201</a:t>
                      </a:r>
                      <a:endParaRPr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6576" marR="36576" marT="36576" marB="36576">
                    <a:lnL w="6350" cmpd="sng">
                      <a:solidFill>
                        <a:srgbClr val="BFC7D3"/>
                      </a:solidFill>
                      <a:prstDash val="solid"/>
                    </a:lnL>
                    <a:lnR w="6350" cmpd="sng">
                      <a:solidFill>
                        <a:srgbClr val="BFC7D3"/>
                      </a:solidFill>
                      <a:prstDash val="solid"/>
                    </a:lnR>
                    <a:lnT w="6350" cmpd="sng">
                      <a:solidFill>
                        <a:srgbClr val="BFC7D3"/>
                      </a:solidFill>
                      <a:prstDash val="solid"/>
                    </a:lnT>
                    <a:lnB w="6350" cmpd="sng">
                      <a:solidFill>
                        <a:srgbClr val="BFC7D3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D2433"/>
                          </a:solidFill>
                          <a:latin typeface="Calibri"/>
                          <a:ea typeface="Calibri"/>
                          <a:cs typeface="Calibri"/>
                        </a:rPr>
                        <a:t>409</a:t>
                      </a:r>
                      <a:endParaRPr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6576" marR="36576" marT="36576" marB="36576">
                    <a:lnL w="6350" cmpd="sng">
                      <a:solidFill>
                        <a:srgbClr val="BFC7D3"/>
                      </a:solidFill>
                      <a:prstDash val="solid"/>
                    </a:lnL>
                    <a:lnR w="6350" cmpd="sng">
                      <a:solidFill>
                        <a:srgbClr val="BFC7D3"/>
                      </a:solidFill>
                      <a:prstDash val="solid"/>
                    </a:lnR>
                    <a:lnT w="6350" cmpd="sng">
                      <a:solidFill>
                        <a:srgbClr val="BFC7D3"/>
                      </a:solidFill>
                      <a:prstDash val="solid"/>
                    </a:lnT>
                    <a:lnB w="6350" cmpd="sng">
                      <a:solidFill>
                        <a:srgbClr val="BFC7D3"/>
                      </a:solidFill>
                      <a:prstDash val="solid"/>
                    </a:lnB>
                    <a:solidFill>
                      <a:srgbClr val="E8EEF6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D2433"/>
                          </a:solidFill>
                          <a:latin typeface="Calibri"/>
                          <a:ea typeface="Calibri"/>
                          <a:cs typeface="Calibri"/>
                        </a:rPr>
                        <a:t>PATCH /inscripciones/{id}/estado</a:t>
                      </a:r>
                      <a:endParaRPr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6576" marR="36576" marT="36576" marB="36576">
                    <a:lnL w="6350" cmpd="sng">
                      <a:solidFill>
                        <a:srgbClr val="BFC7D3"/>
                      </a:solidFill>
                      <a:prstDash val="solid"/>
                    </a:lnL>
                    <a:lnR w="6350" cmpd="sng">
                      <a:solidFill>
                        <a:srgbClr val="BFC7D3"/>
                      </a:solidFill>
                      <a:prstDash val="solid"/>
                    </a:lnR>
                    <a:lnT w="6350" cmpd="sng">
                      <a:solidFill>
                        <a:srgbClr val="BFC7D3"/>
                      </a:solidFill>
                      <a:prstDash val="solid"/>
                    </a:lnT>
                    <a:lnB w="6350" cmpd="sng">
                      <a:solidFill>
                        <a:srgbClr val="BFC7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D2433"/>
                          </a:solidFill>
                          <a:latin typeface="Calibri"/>
                          <a:ea typeface="Calibri"/>
                          <a:cs typeface="Calibri"/>
                        </a:rPr>
                        <a:t>jugador u org.</a:t>
                      </a:r>
                      <a:endParaRPr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6576" marR="36576" marT="36576" marB="36576">
                    <a:lnL w="6350" cmpd="sng">
                      <a:solidFill>
                        <a:srgbClr val="BFC7D3"/>
                      </a:solidFill>
                      <a:prstDash val="solid"/>
                    </a:lnL>
                    <a:lnR w="6350" cmpd="sng">
                      <a:solidFill>
                        <a:srgbClr val="BFC7D3"/>
                      </a:solidFill>
                      <a:prstDash val="solid"/>
                    </a:lnR>
                    <a:lnT w="6350" cmpd="sng">
                      <a:solidFill>
                        <a:srgbClr val="BFC7D3"/>
                      </a:solidFill>
                      <a:prstDash val="solid"/>
                    </a:lnT>
                    <a:lnB w="6350" cmpd="sng">
                      <a:solidFill>
                        <a:srgbClr val="BFC7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D2433"/>
                          </a:solidFill>
                          <a:latin typeface="Calibri"/>
                          <a:ea typeface="Calibri"/>
                          <a:cs typeface="Calibri"/>
                        </a:rPr>
                        <a:t>Detalle · Panel organizador</a:t>
                      </a:r>
                      <a:endParaRPr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6576" marR="36576" marT="36576" marB="36576">
                    <a:lnL w="6350" cmpd="sng">
                      <a:solidFill>
                        <a:srgbClr val="BFC7D3"/>
                      </a:solidFill>
                      <a:prstDash val="solid"/>
                    </a:lnL>
                    <a:lnR w="6350" cmpd="sng">
                      <a:solidFill>
                        <a:srgbClr val="BFC7D3"/>
                      </a:solidFill>
                      <a:prstDash val="solid"/>
                    </a:lnR>
                    <a:lnT w="6350" cmpd="sng">
                      <a:solidFill>
                        <a:srgbClr val="BFC7D3"/>
                      </a:solidFill>
                      <a:prstDash val="solid"/>
                    </a:lnT>
                    <a:lnB w="6350" cmpd="sng">
                      <a:solidFill>
                        <a:srgbClr val="BFC7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D2433"/>
                          </a:solidFill>
                          <a:latin typeface="Calibri"/>
                          <a:ea typeface="Calibri"/>
                          <a:cs typeface="Calibri"/>
                        </a:rPr>
                        <a:t>200</a:t>
                      </a:r>
                      <a:endParaRPr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6576" marR="36576" marT="36576" marB="36576">
                    <a:lnL w="6350" cmpd="sng">
                      <a:solidFill>
                        <a:srgbClr val="BFC7D3"/>
                      </a:solidFill>
                      <a:prstDash val="solid"/>
                    </a:lnL>
                    <a:lnR w="6350" cmpd="sng">
                      <a:solidFill>
                        <a:srgbClr val="BFC7D3"/>
                      </a:solidFill>
                      <a:prstDash val="solid"/>
                    </a:lnR>
                    <a:lnT w="6350" cmpd="sng">
                      <a:solidFill>
                        <a:srgbClr val="BFC7D3"/>
                      </a:solidFill>
                      <a:prstDash val="solid"/>
                    </a:lnT>
                    <a:lnB w="6350" cmpd="sng">
                      <a:solidFill>
                        <a:srgbClr val="BFC7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D2433"/>
                          </a:solidFill>
                          <a:latin typeface="Calibri"/>
                          <a:ea typeface="Calibri"/>
                          <a:cs typeface="Calibri"/>
                        </a:rPr>
                        <a:t>409</a:t>
                      </a:r>
                      <a:endParaRPr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6576" marR="36576" marT="36576" marB="36576">
                    <a:lnL w="6350" cmpd="sng">
                      <a:solidFill>
                        <a:srgbClr val="BFC7D3"/>
                      </a:solidFill>
                      <a:prstDash val="solid"/>
                    </a:lnL>
                    <a:lnR w="6350" cmpd="sng">
                      <a:solidFill>
                        <a:srgbClr val="BFC7D3"/>
                      </a:solidFill>
                      <a:prstDash val="solid"/>
                    </a:lnR>
                    <a:lnT w="6350" cmpd="sng">
                      <a:solidFill>
                        <a:srgbClr val="BFC7D3"/>
                      </a:solidFill>
                      <a:prstDash val="solid"/>
                    </a:lnT>
                    <a:lnB w="6350" cmpd="sng">
                      <a:solidFill>
                        <a:srgbClr val="BFC7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2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D2433"/>
                          </a:solidFill>
                          <a:latin typeface="Calibri"/>
                          <a:ea typeface="Calibri"/>
                          <a:cs typeface="Calibri"/>
                        </a:rPr>
                        <a:t>GET /eventos/{id}/inscripciones</a:t>
                      </a:r>
                      <a:endParaRPr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6576" marR="36576" marT="36576" marB="36576">
                    <a:lnL w="6350" cmpd="sng">
                      <a:solidFill>
                        <a:srgbClr val="BFC7D3"/>
                      </a:solidFill>
                      <a:prstDash val="solid"/>
                    </a:lnL>
                    <a:lnR w="6350" cmpd="sng">
                      <a:solidFill>
                        <a:srgbClr val="BFC7D3"/>
                      </a:solidFill>
                      <a:prstDash val="solid"/>
                    </a:lnR>
                    <a:lnT w="6350" cmpd="sng">
                      <a:solidFill>
                        <a:srgbClr val="BFC7D3"/>
                      </a:solidFill>
                      <a:prstDash val="solid"/>
                    </a:lnT>
                    <a:lnB w="6350" cmpd="sng">
                      <a:solidFill>
                        <a:srgbClr val="BFC7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D2433"/>
                          </a:solidFill>
                          <a:latin typeface="Calibri"/>
                          <a:ea typeface="Calibri"/>
                          <a:cs typeface="Calibri"/>
                        </a:rPr>
                        <a:t>organizador</a:t>
                      </a:r>
                      <a:endParaRPr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6576" marR="36576" marT="36576" marB="36576">
                    <a:lnL w="6350" cmpd="sng">
                      <a:solidFill>
                        <a:srgbClr val="BFC7D3"/>
                      </a:solidFill>
                      <a:prstDash val="solid"/>
                    </a:lnL>
                    <a:lnR w="6350" cmpd="sng">
                      <a:solidFill>
                        <a:srgbClr val="BFC7D3"/>
                      </a:solidFill>
                      <a:prstDash val="solid"/>
                    </a:lnR>
                    <a:lnT w="6350" cmpd="sng">
                      <a:solidFill>
                        <a:srgbClr val="BFC7D3"/>
                      </a:solidFill>
                      <a:prstDash val="solid"/>
                    </a:lnT>
                    <a:lnB w="6350" cmpd="sng">
                      <a:solidFill>
                        <a:srgbClr val="BFC7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D2433"/>
                          </a:solidFill>
                          <a:latin typeface="Calibri"/>
                          <a:ea typeface="Calibri"/>
                          <a:cs typeface="Calibri"/>
                        </a:rPr>
                        <a:t>Panel del organizador</a:t>
                      </a:r>
                      <a:endParaRPr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6576" marR="36576" marT="36576" marB="36576">
                    <a:lnL w="6350" cmpd="sng">
                      <a:solidFill>
                        <a:srgbClr val="BFC7D3"/>
                      </a:solidFill>
                      <a:prstDash val="solid"/>
                    </a:lnL>
                    <a:lnR w="6350" cmpd="sng">
                      <a:solidFill>
                        <a:srgbClr val="BFC7D3"/>
                      </a:solidFill>
                      <a:prstDash val="solid"/>
                    </a:lnR>
                    <a:lnT w="6350" cmpd="sng">
                      <a:solidFill>
                        <a:srgbClr val="BFC7D3"/>
                      </a:solidFill>
                      <a:prstDash val="solid"/>
                    </a:lnT>
                    <a:lnB w="6350" cmpd="sng">
                      <a:solidFill>
                        <a:srgbClr val="BFC7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D2433"/>
                          </a:solidFill>
                          <a:latin typeface="Calibri"/>
                          <a:ea typeface="Calibri"/>
                          <a:cs typeface="Calibri"/>
                        </a:rPr>
                        <a:t>200</a:t>
                      </a:r>
                      <a:endParaRPr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6576" marR="36576" marT="36576" marB="36576">
                    <a:lnL w="6350" cmpd="sng">
                      <a:solidFill>
                        <a:srgbClr val="BFC7D3"/>
                      </a:solidFill>
                      <a:prstDash val="solid"/>
                    </a:lnL>
                    <a:lnR w="6350" cmpd="sng">
                      <a:solidFill>
                        <a:srgbClr val="BFC7D3"/>
                      </a:solidFill>
                      <a:prstDash val="solid"/>
                    </a:lnR>
                    <a:lnT w="6350" cmpd="sng">
                      <a:solidFill>
                        <a:srgbClr val="BFC7D3"/>
                      </a:solidFill>
                      <a:prstDash val="solid"/>
                    </a:lnT>
                    <a:lnB w="6350" cmpd="sng">
                      <a:solidFill>
                        <a:srgbClr val="BFC7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>
                          <a:solidFill>
                            <a:srgbClr val="1D2433"/>
                          </a:solidFill>
                          <a:latin typeface="Calibri"/>
                          <a:ea typeface="Calibri"/>
                          <a:cs typeface="Calibri"/>
                        </a:rPr>
                        <a:t>403</a:t>
                      </a:r>
                      <a:endParaRPr sz="9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36576" marR="36576" marT="36576" marB="36576">
                    <a:lnL w="6350" cmpd="sng">
                      <a:solidFill>
                        <a:srgbClr val="BFC7D3"/>
                      </a:solidFill>
                      <a:prstDash val="solid"/>
                    </a:lnL>
                    <a:lnR w="6350" cmpd="sng">
                      <a:solidFill>
                        <a:srgbClr val="BFC7D3"/>
                      </a:solidFill>
                      <a:prstDash val="solid"/>
                    </a:lnR>
                    <a:lnT w="6350" cmpd="sng">
                      <a:solidFill>
                        <a:srgbClr val="BFC7D3"/>
                      </a:solidFill>
                      <a:prstDash val="solid"/>
                    </a:lnT>
                    <a:lnB w="6350" cmpd="sng">
                      <a:solidFill>
                        <a:srgbClr val="BFC7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33A0C768-4BD4-4092-93EA-480D1B27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080000"/>
            <a:ext cx="3200400" cy="1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BFC7D3"/>
            </a:solidFill>
            <a:prstDash val="dash"/>
          </a:ln>
        </p:spPr>
        <p:txBody xmlns:a="http://schemas.openxmlformats.org/drawingml/2006/main">
          <a:bodyPr/>
          <a:p/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AED53201-22B4-4A6C-A698-51E4C52D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3080000"/>
            <a:ext cx="2194560" cy="1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 w="12700">
            <a:solidFill>
              <a:srgbClr val="E8EEF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E5E8BD8E-7596-4926-8F55-9DF3A4A5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200000"/>
            <a:ext cx="1920240" cy="11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A3D6D"/>
                </a:solidFill>
                <a:latin typeface="Calibri"/>
                <a:ea typeface="Calibri"/>
                <a:cs typeface="Calibri"/>
              </a:rPr>
              <a:t>En el addendum</a:t>
            </a:r>
            <a:endParaRPr sz="10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D2433"/>
                </a:solidFill>
                <a:latin typeface="Calibri"/>
                <a:ea typeface="Calibri"/>
                <a:cs typeface="Calibri"/>
              </a:rPr>
              <a:t>Estructura de carpetas · pruebas con captura · variables de entorno · boceto · diagrama de secuencia.</a:t>
            </a:r>
            <a:endParaRPr sz="1000"/>
          </a:p>
        </p:txBody>
      </p:sp>
      <p:pic xmlns:a="http://schemas.openxmlformats.org/drawingml/2006/main" xmlns:r="http://schemas.openxmlformats.org/officeDocument/2006/relationships">
        <p:nvPicPr>
          <p:cNvPr id="31" name="Picture 30" descr="hito1_respuesta_api.png">
            <a:hlinkClick r:id="rId7"/>
          </p:cNvPr>
          <p:cNvPicPr>
            <a:picLocks noChangeAspect="1"/>
          </p:cNvPicPr>
          <p:nvPr/>
        </p:nvPicPr>
        <p:blipFill>
          <a:blip r:embed="rId6"/>
          <a:srcRect b="50000"/>
          <a:stretch>
            <a:fillRect/>
          </a:stretch>
        </p:blipFill>
        <p:spPr>
          <a:xfrm>
            <a:off x="375285" y="3089529"/>
            <a:ext cx="3181350" cy="1340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608215"/>
      </p:ext>
    </p:extLst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28016"/>
            <a:ext cx="81381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C3B68"/>
                </a:solidFill>
                <a:latin typeface="Calibri"/>
              </a:defRPr>
            </a:pPr>
            <a:r>
              <a:t>Anexo · Boceto de la pantalla principal</a:t>
            </a:r>
          </a:p>
        </p:txBody>
      </p:sp>
      <p:pic>
        <p:nvPicPr>
          <p:cNvPr id="3" name="Picture 2" descr="hito1_boc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895" y="557784"/>
            <a:ext cx="770021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28016"/>
            <a:ext cx="81381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C3B68"/>
                </a:solidFill>
                <a:latin typeface="Calibri"/>
              </a:defRPr>
            </a:pPr>
            <a:r>
              <a:t>Anexo · Pruebas de la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87552"/>
            <a:ext cx="8138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4E5E74"/>
                </a:solidFill>
                <a:latin typeface="Calibri"/>
              </a:defRPr>
            </a:pPr>
            <a:r>
              <a:t>Ejecución de go test ./... en Visual Studio Code</a:t>
            </a:r>
          </a:p>
        </p:txBody>
      </p:sp>
      <p:pic>
        <p:nvPicPr>
          <p:cNvPr id="4" name="Picture 3" descr="hito1_prueb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28800"/>
            <a:ext cx="8138160" cy="127598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3977639"/>
            <a:ext cx="8138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>
                <a:solidFill>
                  <a:srgbClr val="1C3B68"/>
                </a:solidFill>
                <a:latin typeface="Calibri"/>
              </a:defRPr>
            </a:pPr>
            <a:r>
              <a:t>Las pruebas del servidor terminaron correctamente.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2026-10-02T05:53:55.8070000Z</dcterms:created>
  <dcterms:modified xsi:type="dcterms:W3CDTF">2026-10-02T05:53:55.8070000Z</dcterms:modified>
</coreProperties>
</file>